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Corbel"/>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 uri="http://customooxmlschemas.google.com/">
      <go:slidesCustomData xmlns:go="http://customooxmlschemas.google.com/" r:id="rId30" roundtripDataSignature="AMtx7mg07Nm5x+UJwG58+yDDcFqL2YvN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orbel-regular.fntdata"/><Relationship Id="rId25" Type="http://schemas.openxmlformats.org/officeDocument/2006/relationships/slide" Target="slides/slide20.xml"/><Relationship Id="rId28" Type="http://schemas.openxmlformats.org/officeDocument/2006/relationships/font" Target="fonts/Corbel-italic.fntdata"/><Relationship Id="rId27" Type="http://schemas.openxmlformats.org/officeDocument/2006/relationships/font" Target="fonts/Corbel-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bel-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510785001247227E-2"/>
          <c:y val="0.12185865539333662"/>
          <c:w val="0.95377749658170763"/>
          <c:h val="0.62367637155864031"/>
        </c:manualLayout>
      </c:layout>
      <c:barChart>
        <c:barDir val="col"/>
        <c:grouping val="clustered"/>
        <c:varyColors val="0"/>
        <c:ser>
          <c:idx val="0"/>
          <c:order val="0"/>
          <c:tx>
            <c:strRef>
              <c:f>Sheet1!$B$1</c:f>
              <c:strCache>
                <c:ptCount val="1"/>
                <c:pt idx="0">
                  <c:v>Accuracy</c:v>
                </c:pt>
              </c:strCache>
            </c:strRef>
          </c:tx>
          <c:spPr>
            <a:solidFill>
              <a:schemeClr val="bg2"/>
            </a:solidFill>
            <a:ln>
              <a:noFill/>
            </a:ln>
            <a:effectLst/>
          </c:spPr>
          <c:invertIfNegative val="0"/>
          <c:dLbls>
            <c:dLbl>
              <c:idx val="0"/>
              <c:layout>
                <c:manualLayout>
                  <c:x val="0"/>
                  <c:y val="-2.6970027804612131E-2"/>
                </c:manualLayout>
              </c:layout>
              <c:tx>
                <c:rich>
                  <a:bodyPr/>
                  <a:lstStyle/>
                  <a:p>
                    <a:r>
                      <a:rPr lang="en-US" dirty="0"/>
                      <a:t>88 %</a:t>
                    </a:r>
                  </a:p>
                </c:rich>
              </c:tx>
              <c:showLegendKey val="0"/>
              <c:showVal val="1"/>
              <c:showCatName val="0"/>
              <c:showSerName val="0"/>
              <c:showPercent val="0"/>
              <c:showBubbleSize val="0"/>
              <c:extLst>
                <c:ext xmlns:c15="http://schemas.microsoft.com/office/drawing/2012/chart" uri="{CE6537A1-D6FC-4f65-9D91-7224C49458BB}">
                  <c15:layout>
                    <c:manualLayout>
                      <c:w val="3.6377764494919307E-2"/>
                      <c:h val="6.0854159534406031E-2"/>
                    </c:manualLayout>
                  </c15:layout>
                  <c15:showDataLabelsRange val="0"/>
                </c:ext>
                <c:ext xmlns:c16="http://schemas.microsoft.com/office/drawing/2014/chart" uri="{C3380CC4-5D6E-409C-BE32-E72D297353CC}">
                  <c16:uniqueId val="{00000001-0B29-499A-AB72-295719825427}"/>
                </c:ext>
              </c:extLst>
            </c:dLbl>
            <c:dLbl>
              <c:idx val="1"/>
              <c:tx>
                <c:rich>
                  <a:bodyPr/>
                  <a:lstStyle/>
                  <a:p>
                    <a:r>
                      <a:rPr lang="en-US"/>
                      <a:t>95 %</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B29-499A-AB72-295719825427}"/>
                </c:ext>
              </c:extLst>
            </c:dLbl>
            <c:dLbl>
              <c:idx val="2"/>
              <c:layout>
                <c:manualLayout>
                  <c:x val="-3.5863717872086074E-3"/>
                  <c:y val="5.394005560922426E-3"/>
                </c:manualLayout>
              </c:layout>
              <c:tx>
                <c:rich>
                  <a:bodyPr/>
                  <a:lstStyle/>
                  <a:p>
                    <a:r>
                      <a:rPr lang="en-US" dirty="0"/>
                      <a:t>97</a:t>
                    </a:r>
                    <a:r>
                      <a:rPr lang="en-US" baseline="0" dirty="0"/>
                      <a:t> %</a:t>
                    </a:r>
                    <a:endParaRPr lang="en-US" dirty="0"/>
                  </a:p>
                </c:rich>
              </c:tx>
              <c:showLegendKey val="0"/>
              <c:showVal val="1"/>
              <c:showCatName val="0"/>
              <c:showSerName val="0"/>
              <c:showPercent val="0"/>
              <c:showBubbleSize val="0"/>
              <c:extLst>
                <c:ext xmlns:c15="http://schemas.microsoft.com/office/drawing/2012/chart" uri="{CE6537A1-D6FC-4f65-9D91-7224C49458BB}">
                  <c15:layout>
                    <c:manualLayout>
                      <c:w val="3.7573221757322174E-2"/>
                      <c:h val="0.11986037071453025"/>
                    </c:manualLayout>
                  </c15:layout>
                  <c15:showDataLabelsRange val="0"/>
                </c:ext>
                <c:ext xmlns:c16="http://schemas.microsoft.com/office/drawing/2014/chart" uri="{C3380CC4-5D6E-409C-BE32-E72D297353CC}">
                  <c16:uniqueId val="{00000003-0B29-499A-AB72-295719825427}"/>
                </c:ext>
              </c:extLst>
            </c:dLbl>
            <c:spPr>
              <a:noFill/>
              <a:ln>
                <a:noFill/>
              </a:ln>
              <a:effectLst/>
            </c:spPr>
            <c:txPr>
              <a:bodyPr rot="-5400000" spcFirstLastPara="1" vertOverflow="clip" horzOverflow="clip" vert="horz" wrap="square" lIns="38100" tIns="19050" rIns="38100" bIns="19050" anchor="ctr" anchorCtr="1">
                <a:spAutoFit/>
              </a:bodyPr>
              <a:lstStyle/>
              <a:p>
                <a:pPr>
                  <a:defRPr sz="1100" b="1"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SVM</c:v>
                </c:pt>
                <c:pt idx="1">
                  <c:v>ANN</c:v>
                </c:pt>
                <c:pt idx="2">
                  <c:v>RF</c:v>
                </c:pt>
              </c:strCache>
              <c:extLst/>
            </c:strRef>
          </c:cat>
          <c:val>
            <c:numRef>
              <c:f>Sheet1!$B$2:$B$5</c:f>
              <c:numCache>
                <c:formatCode>General</c:formatCode>
                <c:ptCount val="3"/>
                <c:pt idx="0">
                  <c:v>88</c:v>
                </c:pt>
                <c:pt idx="1">
                  <c:v>95</c:v>
                </c:pt>
                <c:pt idx="2">
                  <c:v>97</c:v>
                </c:pt>
              </c:numCache>
              <c:extLst/>
            </c:numRef>
          </c:val>
          <c:extLst>
            <c:ext xmlns:c16="http://schemas.microsoft.com/office/drawing/2014/chart" uri="{C3380CC4-5D6E-409C-BE32-E72D297353CC}">
              <c16:uniqueId val="{00000000-A521-4D15-B41F-EE0A176B77BD}"/>
            </c:ext>
          </c:extLst>
        </c:ser>
        <c:ser>
          <c:idx val="1"/>
          <c:order val="1"/>
          <c:tx>
            <c:strRef>
              <c:f>Sheet1!$C$1</c:f>
              <c:strCache>
                <c:ptCount val="1"/>
                <c:pt idx="0">
                  <c:v>Column1</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100" b="1"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SVM</c:v>
                </c:pt>
                <c:pt idx="1">
                  <c:v>ANN</c:v>
                </c:pt>
                <c:pt idx="2">
                  <c:v>RF</c:v>
                </c:pt>
              </c:strCache>
              <c:extLst/>
            </c:strRef>
          </c:cat>
          <c:val>
            <c:numRef>
              <c:f>Sheet1!$C$2:$C$5</c:f>
              <c:numCache>
                <c:formatCode>General</c:formatCode>
                <c:ptCount val="3"/>
              </c:numCache>
              <c:extLst/>
            </c:numRef>
          </c:val>
          <c:extLst>
            <c:ext xmlns:c16="http://schemas.microsoft.com/office/drawing/2014/chart" uri="{C3380CC4-5D6E-409C-BE32-E72D297353CC}">
              <c16:uniqueId val="{00000001-A521-4D15-B41F-EE0A176B77BD}"/>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100" b="1"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3"/>
                <c:pt idx="0">
                  <c:v>SVM</c:v>
                </c:pt>
                <c:pt idx="1">
                  <c:v>ANN</c:v>
                </c:pt>
                <c:pt idx="2">
                  <c:v>RF</c:v>
                </c:pt>
              </c:strCache>
              <c:extLst/>
            </c:strRef>
          </c:cat>
          <c:val>
            <c:numRef>
              <c:f>Sheet1!$D$2:$D$5</c:f>
              <c:numCache>
                <c:formatCode>General</c:formatCode>
                <c:ptCount val="3"/>
              </c:numCache>
              <c:extLst/>
            </c:numRef>
          </c:val>
          <c:extLst>
            <c:ext xmlns:c16="http://schemas.microsoft.com/office/drawing/2014/chart" uri="{C3380CC4-5D6E-409C-BE32-E72D297353CC}">
              <c16:uniqueId val="{00000002-A521-4D15-B41F-EE0A176B77BD}"/>
            </c:ext>
          </c:extLst>
        </c:ser>
        <c:dLbls>
          <c:dLblPos val="outEnd"/>
          <c:showLegendKey val="0"/>
          <c:showVal val="1"/>
          <c:showCatName val="0"/>
          <c:showSerName val="0"/>
          <c:showPercent val="0"/>
          <c:showBubbleSize val="0"/>
        </c:dLbls>
        <c:gapWidth val="444"/>
        <c:axId val="1111705064"/>
        <c:axId val="1111706704"/>
      </c:barChart>
      <c:catAx>
        <c:axId val="1111705064"/>
        <c:scaling>
          <c:orientation val="minMax"/>
        </c:scaling>
        <c:delete val="0"/>
        <c:axPos val="b"/>
        <c:majorGridlines>
          <c:spPr>
            <a:ln w="9525" cap="flat" cmpd="sng" algn="ctr">
              <a:solidFill>
                <a:srgbClr val="D9D9D9"/>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cap="all" spc="120" normalizeH="0" baseline="0">
                <a:solidFill>
                  <a:schemeClr val="tx1"/>
                </a:solidFill>
                <a:latin typeface="+mn-lt"/>
                <a:ea typeface="+mn-ea"/>
                <a:cs typeface="+mn-cs"/>
              </a:defRPr>
            </a:pPr>
            <a:endParaRPr lang="en-US"/>
          </a:p>
        </c:txPr>
        <c:crossAx val="1111706704"/>
        <c:crosses val="autoZero"/>
        <c:auto val="0"/>
        <c:lblAlgn val="ctr"/>
        <c:lblOffset val="100"/>
        <c:noMultiLvlLbl val="0"/>
      </c:catAx>
      <c:valAx>
        <c:axId val="1111706704"/>
        <c:scaling>
          <c:orientation val="minMax"/>
        </c:scaling>
        <c:delete val="1"/>
        <c:axPos val="l"/>
        <c:numFmt formatCode="General" sourceLinked="1"/>
        <c:majorTickMark val="out"/>
        <c:minorTickMark val="none"/>
        <c:tickLblPos val="nextTo"/>
        <c:crossAx val="1111705064"/>
        <c:crosses val="autoZero"/>
        <c:crossBetween val="between"/>
      </c:valAx>
      <c:spPr>
        <a:noFill/>
        <a:ln>
          <a:noFill/>
        </a:ln>
        <a:effectLst/>
      </c:spPr>
    </c:plotArea>
    <c:legend>
      <c:legendPos val="t"/>
      <c:legendEntry>
        <c:idx val="1"/>
        <c:delete val="1"/>
      </c:legendEntry>
      <c:legendEntry>
        <c:idx val="2"/>
        <c:delete val="1"/>
      </c:legendEntry>
      <c:layout>
        <c:manualLayout>
          <c:xMode val="edge"/>
          <c:yMode val="edge"/>
          <c:x val="0.45933572111017495"/>
          <c:y val="0.90002543160365811"/>
          <c:w val="8.0943187540887918E-2"/>
          <c:h val="5.519129500941933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Splitting Dataset</c:v>
                </c:pt>
              </c:strCache>
            </c:strRef>
          </c:tx>
          <c:dPt>
            <c:idx val="0"/>
            <c:bubble3D val="0"/>
            <c:spPr>
              <a:solidFill>
                <a:schemeClr val="accent2"/>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1-D267-4FA8-8F8F-A881D85F3492}"/>
              </c:ext>
            </c:extLst>
          </c:dPt>
          <c:dPt>
            <c:idx val="1"/>
            <c:bubble3D val="0"/>
            <c:spPr>
              <a:solidFill>
                <a:schemeClr val="accent4"/>
              </a:solidFill>
              <a:ln>
                <a:noFill/>
              </a:ln>
              <a:effectLst>
                <a:outerShdw blurRad="254000" sx="102000" sy="102000" algn="ctr" rotWithShape="0">
                  <a:prstClr val="black">
                    <a:alpha val="20000"/>
                  </a:prstClr>
                </a:outerShdw>
              </a:effectLst>
              <a:sp3d/>
            </c:spPr>
            <c:extLst>
              <c:ext xmlns:c16="http://schemas.microsoft.com/office/drawing/2014/chart" uri="{C3380CC4-5D6E-409C-BE32-E72D297353CC}">
                <c16:uniqueId val="{00000003-D267-4FA8-8F8F-A881D85F3492}"/>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Sheet1!$A$2:$A$5</c:f>
              <c:strCache>
                <c:ptCount val="2"/>
                <c:pt idx="0">
                  <c:v>Train Data</c:v>
                </c:pt>
                <c:pt idx="1">
                  <c:v>Test Data</c:v>
                </c:pt>
              </c:strCache>
            </c:strRef>
          </c:cat>
          <c:val>
            <c:numRef>
              <c:f>Sheet1!$B$2:$B$5</c:f>
              <c:numCache>
                <c:formatCode>0%</c:formatCode>
                <c:ptCount val="2"/>
                <c:pt idx="0">
                  <c:v>0.85</c:v>
                </c:pt>
                <c:pt idx="1">
                  <c:v>0.15</c:v>
                </c:pt>
              </c:numCache>
            </c:numRef>
          </c:val>
          <c:extLst>
            <c:ext xmlns:c16="http://schemas.microsoft.com/office/drawing/2014/chart" uri="{C3380CC4-5D6E-409C-BE32-E72D297353CC}">
              <c16:uniqueId val="{00000000-FD71-486C-9673-CED8818650D7}"/>
            </c:ext>
          </c:extLst>
        </c:ser>
        <c:dLbls>
          <c:dLblPos val="ctr"/>
          <c:showLegendKey val="0"/>
          <c:showVal val="0"/>
          <c:showCatName val="0"/>
          <c:showSerName val="0"/>
          <c:showPercent val="1"/>
          <c:showBubbleSize val="0"/>
          <c:showLeaderLines val="1"/>
        </c:dLbls>
      </c:pie3D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bg>
      <p:bgPr>
        <a:solidFill>
          <a:schemeClr val="dk1"/>
        </a:solidFill>
      </p:bgPr>
    </p:bg>
    <p:spTree>
      <p:nvGrpSpPr>
        <p:cNvPr id="13" name="Shape 13"/>
        <p:cNvGrpSpPr/>
        <p:nvPr/>
      </p:nvGrpSpPr>
      <p:grpSpPr>
        <a:xfrm>
          <a:off x="0" y="0"/>
          <a:ext cx="0" cy="0"/>
          <a:chOff x="0" y="0"/>
          <a:chExt cx="0" cy="0"/>
        </a:xfrm>
      </p:grpSpPr>
      <p:sp>
        <p:nvSpPr>
          <p:cNvPr id="14" name="Google Shape;14;p22"/>
          <p:cNvSpPr/>
          <p:nvPr>
            <p:ph idx="2" type="pic"/>
          </p:nvPr>
        </p:nvSpPr>
        <p:spPr>
          <a:xfrm>
            <a:off x="0" y="0"/>
            <a:ext cx="12192000" cy="6858000"/>
          </a:xfrm>
          <a:prstGeom prst="rect">
            <a:avLst/>
          </a:prstGeom>
          <a:noFill/>
          <a:ln>
            <a:noFill/>
          </a:ln>
        </p:spPr>
      </p:sp>
      <p:sp>
        <p:nvSpPr>
          <p:cNvPr id="15" name="Google Shape;15;p22"/>
          <p:cNvSpPr/>
          <p:nvPr/>
        </p:nvSpPr>
        <p:spPr>
          <a:xfrm>
            <a:off x="3166402" y="903484"/>
            <a:ext cx="5859196" cy="5051033"/>
          </a:xfrm>
          <a:prstGeom prst="hexagon">
            <a:avLst>
              <a:gd fmla="val 25000" name="adj"/>
              <a:gd fmla="val 115470" name="vf"/>
            </a:avLst>
          </a:prstGeom>
          <a:solidFill>
            <a:schemeClr val="accent5">
              <a:alpha val="40000"/>
            </a:schemeClr>
          </a:solidFill>
          <a:ln cap="flat" cmpd="sng" w="603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22"/>
          <p:cNvSpPr/>
          <p:nvPr/>
        </p:nvSpPr>
        <p:spPr>
          <a:xfrm>
            <a:off x="7974278" y="5753530"/>
            <a:ext cx="651613" cy="561736"/>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22"/>
          <p:cNvSpPr/>
          <p:nvPr/>
        </p:nvSpPr>
        <p:spPr>
          <a:xfrm>
            <a:off x="2255521" y="2751804"/>
            <a:ext cx="785546" cy="677196"/>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22"/>
          <p:cNvSpPr/>
          <p:nvPr/>
        </p:nvSpPr>
        <p:spPr>
          <a:xfrm>
            <a:off x="8021783" y="671564"/>
            <a:ext cx="392774" cy="33859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22"/>
          <p:cNvSpPr/>
          <p:nvPr/>
        </p:nvSpPr>
        <p:spPr>
          <a:xfrm>
            <a:off x="2035398" y="3344350"/>
            <a:ext cx="196388" cy="169300"/>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 name="Google Shape;20;p22"/>
          <p:cNvSpPr txBox="1"/>
          <p:nvPr>
            <p:ph type="title"/>
          </p:nvPr>
        </p:nvSpPr>
        <p:spPr>
          <a:xfrm>
            <a:off x="4096846" y="2576760"/>
            <a:ext cx="3924935" cy="16956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lt1"/>
              </a:buClr>
              <a:buSzPts val="4800"/>
              <a:buFont typeface="Corbel"/>
              <a:buNone/>
              <a:defRPr b="1" i="0" sz="48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22"/>
          <p:cNvSpPr txBox="1"/>
          <p:nvPr>
            <p:ph idx="1" type="body"/>
          </p:nvPr>
        </p:nvSpPr>
        <p:spPr>
          <a:xfrm>
            <a:off x="4096848" y="1899514"/>
            <a:ext cx="3924934" cy="4905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2400"/>
              <a:buFont typeface="Arial"/>
              <a:buNone/>
              <a:defRPr b="1" i="0" sz="2400" u="none" cap="none" strike="noStrike">
                <a:solidFill>
                  <a:schemeClr val="accent4"/>
                </a:solidFill>
                <a:latin typeface="Calibri"/>
                <a:ea typeface="Calibri"/>
                <a:cs typeface="Calibri"/>
                <a:sym typeface="Calibri"/>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22"/>
          <p:cNvSpPr txBox="1"/>
          <p:nvPr>
            <p:ph idx="3" type="body"/>
          </p:nvPr>
        </p:nvSpPr>
        <p:spPr>
          <a:xfrm>
            <a:off x="4484582" y="4459105"/>
            <a:ext cx="3222836" cy="1168530"/>
          </a:xfrm>
          <a:prstGeom prst="rect">
            <a:avLst/>
          </a:prstGeom>
          <a:noFill/>
          <a:ln>
            <a:noFill/>
          </a:ln>
        </p:spPr>
        <p:txBody>
          <a:bodyPr anchorCtr="0" anchor="b" bIns="45700" lIns="91425" spcFirstLastPara="1" rIns="91425" wrap="square" tIns="45700">
            <a:noAutofit/>
          </a:bodyPr>
          <a:lstStyle>
            <a:lvl1pPr indent="-228600" lvl="0" marL="457200" marR="0" rtl="0" algn="r">
              <a:lnSpc>
                <a:spcPct val="90000"/>
              </a:lnSpc>
              <a:spcBef>
                <a:spcPts val="1000"/>
              </a:spcBef>
              <a:spcAft>
                <a:spcPts val="0"/>
              </a:spcAft>
              <a:buClr>
                <a:schemeClr val="lt1"/>
              </a:buClr>
              <a:buSzPts val="1600"/>
              <a:buFont typeface="Arial"/>
              <a:buNone/>
              <a:defRPr b="0" i="0" sz="1600" u="none" cap="none" strike="noStrike">
                <a:solidFill>
                  <a:schemeClr val="lt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3" name="Shape 23"/>
        <p:cNvGrpSpPr/>
        <p:nvPr/>
      </p:nvGrpSpPr>
      <p:grpSpPr>
        <a:xfrm>
          <a:off x="0" y="0"/>
          <a:ext cx="0" cy="0"/>
          <a:chOff x="0" y="0"/>
          <a:chExt cx="0" cy="0"/>
        </a:xfrm>
      </p:grpSpPr>
      <p:sp>
        <p:nvSpPr>
          <p:cNvPr id="24" name="Google Shape;24;p23"/>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25" name="Google Shape;25;p23"/>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26" name="Google Shape;26;p23"/>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27" name="Google Shape;27;p23"/>
          <p:cNvSpPr/>
          <p:nvPr>
            <p:ph idx="2" type="pic"/>
          </p:nvPr>
        </p:nvSpPr>
        <p:spPr>
          <a:xfrm>
            <a:off x="5733416" y="624239"/>
            <a:ext cx="5855754" cy="5631571"/>
          </a:xfrm>
          <a:prstGeom prst="rect">
            <a:avLst/>
          </a:prstGeom>
          <a:noFill/>
          <a:ln>
            <a:noFill/>
          </a:ln>
        </p:spPr>
      </p:sp>
      <p:sp>
        <p:nvSpPr>
          <p:cNvPr id="28" name="Google Shape;28;p2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150000"/>
              </a:lnSpc>
              <a:spcBef>
                <a:spcPts val="1000"/>
              </a:spcBef>
              <a:spcAft>
                <a:spcPts val="0"/>
              </a:spcAft>
              <a:buClr>
                <a:schemeClr val="accent4"/>
              </a:buClr>
              <a:buSzPts val="2000"/>
              <a:buFont typeface="Noto Sans Symbols"/>
              <a:buChar char="▪"/>
              <a:defRPr b="0" i="0" sz="2000" u="none" cap="none" strike="noStrike">
                <a:solidFill>
                  <a:srgbClr val="3F3F3F"/>
                </a:solidFill>
                <a:latin typeface="Calibri"/>
                <a:ea typeface="Calibri"/>
                <a:cs typeface="Calibri"/>
                <a:sym typeface="Calibri"/>
              </a:defRPr>
            </a:lvl1pPr>
            <a:lvl2pPr indent="-355600" lvl="1" marL="914400" marR="0" rtl="0" algn="l">
              <a:lnSpc>
                <a:spcPct val="90000"/>
              </a:lnSpc>
              <a:spcBef>
                <a:spcPts val="500"/>
              </a:spcBef>
              <a:spcAft>
                <a:spcPts val="0"/>
              </a:spcAft>
              <a:buClr>
                <a:schemeClr val="accent4"/>
              </a:buClr>
              <a:buSzPts val="2000"/>
              <a:buFont typeface="Noto Sans Symbols"/>
              <a:buChar char="▪"/>
              <a:defRPr b="0" i="0" sz="2000" u="none" cap="none" strike="noStrike">
                <a:solidFill>
                  <a:srgbClr val="3F3F3F"/>
                </a:solidFill>
                <a:latin typeface="Calibri"/>
                <a:ea typeface="Calibri"/>
                <a:cs typeface="Calibri"/>
                <a:sym typeface="Calibri"/>
              </a:defRPr>
            </a:lvl2pPr>
            <a:lvl3pPr indent="-342900" lvl="2" marL="1371600" marR="0" rtl="0" algn="l">
              <a:lnSpc>
                <a:spcPct val="90000"/>
              </a:lnSpc>
              <a:spcBef>
                <a:spcPts val="500"/>
              </a:spcBef>
              <a:spcAft>
                <a:spcPts val="0"/>
              </a:spcAft>
              <a:buClr>
                <a:schemeClr val="accent4"/>
              </a:buClr>
              <a:buSzPts val="1800"/>
              <a:buFont typeface="Noto Sans Symbols"/>
              <a:buChar char="▪"/>
              <a:defRPr b="0" i="0" sz="1800" u="none" cap="none" strike="noStrike">
                <a:solidFill>
                  <a:srgbClr val="3F3F3F"/>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accent4"/>
              </a:buClr>
              <a:buSzPts val="1800"/>
              <a:buFont typeface="Noto Sans Symbols"/>
              <a:buChar char="▪"/>
              <a:defRPr b="0" i="0" sz="1800" u="none" cap="none" strike="noStrike">
                <a:solidFill>
                  <a:srgbClr val="3F3F3F"/>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accent4"/>
              </a:buClr>
              <a:buSzPts val="1800"/>
              <a:buFont typeface="Noto Sans Symbols"/>
              <a:buChar char="▪"/>
              <a:defRPr b="0" i="0" sz="18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2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0" name="Shape 30"/>
        <p:cNvGrpSpPr/>
        <p:nvPr/>
      </p:nvGrpSpPr>
      <p:grpSpPr>
        <a:xfrm>
          <a:off x="0" y="0"/>
          <a:ext cx="0" cy="0"/>
          <a:chOff x="0" y="0"/>
          <a:chExt cx="0" cy="0"/>
        </a:xfrm>
      </p:grpSpPr>
      <p:sp>
        <p:nvSpPr>
          <p:cNvPr id="31" name="Google Shape;31;p2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500"/>
              </a:spcBef>
              <a:spcAft>
                <a:spcPts val="0"/>
              </a:spcAft>
              <a:buClr>
                <a:schemeClr val="accent4"/>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30200" lvl="2" marL="1371600" marR="0" rtl="0" algn="l">
              <a:lnSpc>
                <a:spcPct val="90000"/>
              </a:lnSpc>
              <a:spcBef>
                <a:spcPts val="500"/>
              </a:spcBef>
              <a:spcAft>
                <a:spcPts val="0"/>
              </a:spcAft>
              <a:buClr>
                <a:schemeClr val="accent4"/>
              </a:buClr>
              <a:buSzPts val="1600"/>
              <a:buFont typeface="Noto Sans Symbols"/>
              <a:buChar char="▪"/>
              <a:defRPr b="0" i="0" sz="1600" u="none" cap="none" strike="noStrike">
                <a:solidFill>
                  <a:srgbClr val="3F3F3F"/>
                </a:solidFill>
                <a:latin typeface="Calibri"/>
                <a:ea typeface="Calibri"/>
                <a:cs typeface="Calibri"/>
                <a:sym typeface="Calibri"/>
              </a:defRPr>
            </a:lvl3pPr>
            <a:lvl4pPr indent="-330200" lvl="3" marL="1828800" marR="0" rtl="0" algn="l">
              <a:lnSpc>
                <a:spcPct val="90000"/>
              </a:lnSpc>
              <a:spcBef>
                <a:spcPts val="500"/>
              </a:spcBef>
              <a:spcAft>
                <a:spcPts val="0"/>
              </a:spcAft>
              <a:buClr>
                <a:schemeClr val="accent4"/>
              </a:buClr>
              <a:buSzPts val="1600"/>
              <a:buFont typeface="Noto Sans Symbols"/>
              <a:buChar char="▪"/>
              <a:defRPr b="0" i="0" sz="1600" u="none" cap="none" strike="noStrike">
                <a:solidFill>
                  <a:srgbClr val="3F3F3F"/>
                </a:solidFill>
                <a:latin typeface="Calibri"/>
                <a:ea typeface="Calibri"/>
                <a:cs typeface="Calibri"/>
                <a:sym typeface="Calibri"/>
              </a:defRPr>
            </a:lvl4pPr>
            <a:lvl5pPr indent="-330200" lvl="4" marL="2286000" marR="0" rtl="0" algn="l">
              <a:lnSpc>
                <a:spcPct val="90000"/>
              </a:lnSpc>
              <a:spcBef>
                <a:spcPts val="500"/>
              </a:spcBef>
              <a:spcAft>
                <a:spcPts val="0"/>
              </a:spcAft>
              <a:buClr>
                <a:schemeClr val="accent4"/>
              </a:buClr>
              <a:buSzPts val="1600"/>
              <a:buFont typeface="Noto Sans Symbols"/>
              <a:buChar char="▪"/>
              <a:defRPr b="0" i="0" sz="16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Google Shape;32;p24"/>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 name="Google Shape;33;p24"/>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 name="Google Shape;34;p24"/>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 name="Google Shape;35;p24"/>
          <p:cNvSpPr/>
          <p:nvPr>
            <p:ph idx="2" type="pic"/>
          </p:nvPr>
        </p:nvSpPr>
        <p:spPr>
          <a:xfrm>
            <a:off x="7090227" y="786181"/>
            <a:ext cx="4441372" cy="5393036"/>
          </a:xfrm>
          <a:prstGeom prst="rect">
            <a:avLst/>
          </a:prstGeom>
          <a:noFill/>
          <a:ln>
            <a:noFill/>
          </a:ln>
        </p:spPr>
      </p:sp>
      <p:sp>
        <p:nvSpPr>
          <p:cNvPr id="36" name="Google Shape;36;p2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wo Column">
  <p:cSld name="Content Two Column">
    <p:spTree>
      <p:nvGrpSpPr>
        <p:cNvPr id="37" name="Shape 37"/>
        <p:cNvGrpSpPr/>
        <p:nvPr/>
      </p:nvGrpSpPr>
      <p:grpSpPr>
        <a:xfrm>
          <a:off x="0" y="0"/>
          <a:ext cx="0" cy="0"/>
          <a:chOff x="0" y="0"/>
          <a:chExt cx="0" cy="0"/>
        </a:xfrm>
      </p:grpSpPr>
      <p:sp>
        <p:nvSpPr>
          <p:cNvPr id="38" name="Google Shape;38;p25"/>
          <p:cNvSpPr txBox="1"/>
          <p:nvPr>
            <p:ph idx="1" type="body"/>
          </p:nvPr>
        </p:nvSpPr>
        <p:spPr>
          <a:xfrm>
            <a:off x="647700" y="2057818"/>
            <a:ext cx="5080000" cy="43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9" name="Google Shape;39;p25"/>
          <p:cNvSpPr/>
          <p:nvPr/>
        </p:nvSpPr>
        <p:spPr>
          <a:xfrm>
            <a:off x="10385897" y="1443145"/>
            <a:ext cx="471170" cy="47117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40" name="Google Shape;40;p25"/>
          <p:cNvSpPr/>
          <p:nvPr/>
        </p:nvSpPr>
        <p:spPr>
          <a:xfrm>
            <a:off x="8910011" y="328773"/>
            <a:ext cx="317813" cy="317813"/>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41" name="Google Shape;41;p25"/>
          <p:cNvSpPr/>
          <p:nvPr/>
        </p:nvSpPr>
        <p:spPr>
          <a:xfrm flipH="1">
            <a:off x="8634932" y="623939"/>
            <a:ext cx="170406" cy="170406"/>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Calibri"/>
              <a:ea typeface="Calibri"/>
              <a:cs typeface="Calibri"/>
              <a:sym typeface="Calibri"/>
            </a:endParaRPr>
          </a:p>
        </p:txBody>
      </p:sp>
      <p:sp>
        <p:nvSpPr>
          <p:cNvPr id="42" name="Google Shape;42;p25"/>
          <p:cNvSpPr txBox="1"/>
          <p:nvPr>
            <p:ph idx="2" type="body"/>
          </p:nvPr>
        </p:nvSpPr>
        <p:spPr>
          <a:xfrm>
            <a:off x="660400" y="2673522"/>
            <a:ext cx="5067300" cy="293528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25"/>
          <p:cNvSpPr txBox="1"/>
          <p:nvPr>
            <p:ph idx="3" type="body"/>
          </p:nvPr>
        </p:nvSpPr>
        <p:spPr>
          <a:xfrm>
            <a:off x="6451600" y="2061363"/>
            <a:ext cx="5080000" cy="43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25"/>
          <p:cNvSpPr txBox="1"/>
          <p:nvPr>
            <p:ph idx="4" type="body"/>
          </p:nvPr>
        </p:nvSpPr>
        <p:spPr>
          <a:xfrm>
            <a:off x="6464300" y="2677067"/>
            <a:ext cx="5067300" cy="293528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5" name="Google Shape;45;p25"/>
          <p:cNvSpPr/>
          <p:nvPr>
            <p:ph idx="5" type="pic"/>
          </p:nvPr>
        </p:nvSpPr>
        <p:spPr>
          <a:xfrm>
            <a:off x="9261647" y="0"/>
            <a:ext cx="2930353" cy="1559882"/>
          </a:xfrm>
          <a:prstGeom prst="rect">
            <a:avLst/>
          </a:prstGeom>
          <a:noFill/>
          <a:ln>
            <a:noFill/>
          </a:ln>
        </p:spPr>
      </p:sp>
      <p:sp>
        <p:nvSpPr>
          <p:cNvPr id="46" name="Google Shape;46;p25"/>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1272">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and Table">
  <p:cSld name="Chart and Table">
    <p:spTree>
      <p:nvGrpSpPr>
        <p:cNvPr id="47" name="Shape 47"/>
        <p:cNvGrpSpPr/>
        <p:nvPr/>
      </p:nvGrpSpPr>
      <p:grpSpPr>
        <a:xfrm>
          <a:off x="0" y="0"/>
          <a:ext cx="0" cy="0"/>
          <a:chOff x="0" y="0"/>
          <a:chExt cx="0" cy="0"/>
        </a:xfrm>
      </p:grpSpPr>
      <p:sp>
        <p:nvSpPr>
          <p:cNvPr id="48" name="Google Shape;48;p26"/>
          <p:cNvSpPr txBox="1"/>
          <p:nvPr>
            <p:ph idx="1" type="body"/>
          </p:nvPr>
        </p:nvSpPr>
        <p:spPr>
          <a:xfrm>
            <a:off x="838200" y="2039392"/>
            <a:ext cx="10515600" cy="4114800"/>
          </a:xfrm>
          <a:prstGeom prst="rect">
            <a:avLst/>
          </a:prstGeom>
          <a:noFill/>
          <a:ln>
            <a:noFill/>
          </a:ln>
        </p:spPr>
        <p:txBody>
          <a:bodyPr anchorCtr="0" anchor="t" bIns="45700" lIns="91425" spcFirstLastPara="1" rIns="91425" wrap="square" tIns="45700">
            <a:noAutofit/>
          </a:bodyPr>
          <a:lstStyle>
            <a:lvl1pPr indent="-342900" lvl="0" marL="457200" marR="0" rtl="0" algn="l">
              <a:lnSpc>
                <a:spcPct val="90000"/>
              </a:lnSpc>
              <a:spcBef>
                <a:spcPts val="1000"/>
              </a:spcBef>
              <a:spcAft>
                <a:spcPts val="0"/>
              </a:spcAft>
              <a:buClr>
                <a:srgbClr val="3F3F3F"/>
              </a:buClr>
              <a:buSzPts val="1800"/>
              <a:buFont typeface="Arial"/>
              <a:buChar char="•"/>
              <a:defRPr b="0" i="0" sz="1800" u="none" cap="none" strike="noStrike">
                <a:solidFill>
                  <a:srgbClr val="3F3F3F"/>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 name="Google Shape;49;p26"/>
          <p:cNvSpPr txBox="1"/>
          <p:nvPr>
            <p:ph type="title"/>
          </p:nvPr>
        </p:nvSpPr>
        <p:spPr>
          <a:xfrm>
            <a:off x="838200" y="635000"/>
            <a:ext cx="10515600" cy="700115"/>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50" name="Shape 50"/>
        <p:cNvGrpSpPr/>
        <p:nvPr/>
      </p:nvGrpSpPr>
      <p:grpSpPr>
        <a:xfrm>
          <a:off x="0" y="0"/>
          <a:ext cx="0" cy="0"/>
          <a:chOff x="0" y="0"/>
          <a:chExt cx="0" cy="0"/>
        </a:xfrm>
      </p:grpSpPr>
      <p:sp>
        <p:nvSpPr>
          <p:cNvPr id="51" name="Google Shape;51;p27"/>
          <p:cNvSpPr txBox="1"/>
          <p:nvPr>
            <p:ph idx="1" type="body"/>
          </p:nvPr>
        </p:nvSpPr>
        <p:spPr>
          <a:xfrm>
            <a:off x="1739655" y="2117897"/>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7"/>
          <p:cNvSpPr txBox="1"/>
          <p:nvPr>
            <p:ph idx="2" type="body"/>
          </p:nvPr>
        </p:nvSpPr>
        <p:spPr>
          <a:xfrm>
            <a:off x="1739655" y="4724146"/>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27"/>
          <p:cNvSpPr txBox="1"/>
          <p:nvPr>
            <p:ph idx="3" type="body"/>
          </p:nvPr>
        </p:nvSpPr>
        <p:spPr>
          <a:xfrm>
            <a:off x="1739655" y="3420892"/>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4" name="Google Shape;54;p27"/>
          <p:cNvSpPr txBox="1"/>
          <p:nvPr>
            <p:ph idx="4" type="body"/>
          </p:nvPr>
        </p:nvSpPr>
        <p:spPr>
          <a:xfrm>
            <a:off x="7493865" y="2117897"/>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27"/>
          <p:cNvSpPr txBox="1"/>
          <p:nvPr>
            <p:ph idx="5" type="body"/>
          </p:nvPr>
        </p:nvSpPr>
        <p:spPr>
          <a:xfrm>
            <a:off x="7493865" y="4724146"/>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27"/>
          <p:cNvSpPr txBox="1"/>
          <p:nvPr>
            <p:ph idx="6" type="body"/>
          </p:nvPr>
        </p:nvSpPr>
        <p:spPr>
          <a:xfrm>
            <a:off x="7493865" y="3420892"/>
            <a:ext cx="4208386" cy="91281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1800"/>
              <a:buFont typeface="Arial"/>
              <a:buNone/>
              <a:defRPr b="1" i="0" sz="18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7" name="Google Shape;57;p27"/>
          <p:cNvSpPr txBox="1"/>
          <p:nvPr>
            <p:ph type="title"/>
          </p:nvPr>
        </p:nvSpPr>
        <p:spPr>
          <a:xfrm>
            <a:off x="660400" y="805213"/>
            <a:ext cx="10693400"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58" name="Shape 58"/>
        <p:cNvGrpSpPr/>
        <p:nvPr/>
      </p:nvGrpSpPr>
      <p:grpSpPr>
        <a:xfrm>
          <a:off x="0" y="0"/>
          <a:ext cx="0" cy="0"/>
          <a:chOff x="0" y="0"/>
          <a:chExt cx="0" cy="0"/>
        </a:xfrm>
      </p:grpSpPr>
      <p:sp>
        <p:nvSpPr>
          <p:cNvPr id="59" name="Google Shape;59;p28"/>
          <p:cNvSpPr/>
          <p:nvPr/>
        </p:nvSpPr>
        <p:spPr>
          <a:xfrm>
            <a:off x="5897272" y="1457542"/>
            <a:ext cx="617218" cy="61721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28"/>
          <p:cNvSpPr/>
          <p:nvPr/>
        </p:nvSpPr>
        <p:spPr>
          <a:xfrm>
            <a:off x="9810348" y="5955461"/>
            <a:ext cx="394539" cy="394539"/>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28"/>
          <p:cNvSpPr/>
          <p:nvPr/>
        </p:nvSpPr>
        <p:spPr>
          <a:xfrm>
            <a:off x="6514490" y="946887"/>
            <a:ext cx="335852" cy="335852"/>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 name="Google Shape;62;p28"/>
          <p:cNvSpPr txBox="1"/>
          <p:nvPr>
            <p:ph idx="1" type="body"/>
          </p:nvPr>
        </p:nvSpPr>
        <p:spPr>
          <a:xfrm>
            <a:off x="647701" y="2042790"/>
            <a:ext cx="4143374" cy="265430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3F3F3F"/>
              </a:buClr>
              <a:buSzPts val="2000"/>
              <a:buFont typeface="Arial"/>
              <a:buNone/>
              <a:defRPr b="0" i="0" sz="2000" u="none" cap="none" strike="noStrike">
                <a:solidFill>
                  <a:srgbClr val="3F3F3F"/>
                </a:solidFill>
                <a:latin typeface="Calibri"/>
                <a:ea typeface="Calibri"/>
                <a:cs typeface="Calibri"/>
                <a:sym typeface="Calibri"/>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228600" lvl="2" marL="13716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3pPr>
            <a:lvl4pPr indent="-228600" lvl="3" marL="18288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4pPr>
            <a:lvl5pPr indent="-228600" lvl="4" marL="22860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3" name="Google Shape;63;p28"/>
          <p:cNvSpPr txBox="1"/>
          <p:nvPr>
            <p:ph idx="2" type="body"/>
          </p:nvPr>
        </p:nvSpPr>
        <p:spPr>
          <a:xfrm>
            <a:off x="647699" y="4953919"/>
            <a:ext cx="4143375" cy="75947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alibri"/>
                <a:ea typeface="Calibri"/>
                <a:cs typeface="Calibri"/>
                <a:sym typeface="Calibri"/>
              </a:defRPr>
            </a:lvl1pPr>
            <a:lvl2pPr indent="-228600" lvl="1" marL="914400" marR="0" rtl="0" algn="l">
              <a:lnSpc>
                <a:spcPct val="90000"/>
              </a:lnSpc>
              <a:spcBef>
                <a:spcPts val="500"/>
              </a:spcBef>
              <a:spcAft>
                <a:spcPts val="0"/>
              </a:spcAft>
              <a:buClr>
                <a:srgbClr val="3F3F3F"/>
              </a:buClr>
              <a:buSzPts val="2000"/>
              <a:buFont typeface="Arial"/>
              <a:buNone/>
              <a:defRPr b="0" i="0" sz="2000" u="none" cap="none" strike="noStrike">
                <a:solidFill>
                  <a:srgbClr val="3F3F3F"/>
                </a:solidFill>
                <a:latin typeface="Calibri"/>
                <a:ea typeface="Calibri"/>
                <a:cs typeface="Calibri"/>
                <a:sym typeface="Calibri"/>
              </a:defRPr>
            </a:lvl2pPr>
            <a:lvl3pPr indent="-228600" lvl="2" marL="13716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3pPr>
            <a:lvl4pPr indent="-228600" lvl="3" marL="18288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4pPr>
            <a:lvl5pPr indent="-228600" lvl="4" marL="2286000" marR="0" rtl="0" algn="l">
              <a:lnSpc>
                <a:spcPct val="90000"/>
              </a:lnSpc>
              <a:spcBef>
                <a:spcPts val="500"/>
              </a:spcBef>
              <a:spcAft>
                <a:spcPts val="0"/>
              </a:spcAft>
              <a:buClr>
                <a:srgbClr val="3F3F3F"/>
              </a:buClr>
              <a:buSzPts val="1400"/>
              <a:buFont typeface="Arial"/>
              <a:buNone/>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4" name="Google Shape;64;p28"/>
          <p:cNvSpPr/>
          <p:nvPr>
            <p:ph idx="3" type="pic"/>
          </p:nvPr>
        </p:nvSpPr>
        <p:spPr>
          <a:xfrm>
            <a:off x="5887402" y="533063"/>
            <a:ext cx="5542598" cy="5611666"/>
          </a:xfrm>
          <a:prstGeom prst="rect">
            <a:avLst/>
          </a:prstGeom>
          <a:noFill/>
          <a:ln>
            <a:noFill/>
          </a:ln>
        </p:spPr>
      </p:sp>
      <p:sp>
        <p:nvSpPr>
          <p:cNvPr id="65" name="Google Shape;65;p28"/>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66" name="Shape 66"/>
        <p:cNvGrpSpPr/>
        <p:nvPr/>
      </p:nvGrpSpPr>
      <p:grpSpPr>
        <a:xfrm>
          <a:off x="0" y="0"/>
          <a:ext cx="0" cy="0"/>
          <a:chOff x="0" y="0"/>
          <a:chExt cx="0" cy="0"/>
        </a:xfrm>
      </p:grpSpPr>
      <p:sp>
        <p:nvSpPr>
          <p:cNvPr id="67" name="Google Shape;67;p29"/>
          <p:cNvSpPr/>
          <p:nvPr>
            <p:ph idx="2" type="pic"/>
          </p:nvPr>
        </p:nvSpPr>
        <p:spPr>
          <a:xfrm>
            <a:off x="0" y="0"/>
            <a:ext cx="12192000" cy="6858000"/>
          </a:xfrm>
          <a:prstGeom prst="rect">
            <a:avLst/>
          </a:prstGeom>
          <a:noFill/>
          <a:ln>
            <a:noFill/>
          </a:ln>
        </p:spPr>
      </p:sp>
      <p:sp>
        <p:nvSpPr>
          <p:cNvPr descr="Tall office building looking up" id="68" name="Google Shape;68;p29"/>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 name="Google Shape;69;p29"/>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accent4"/>
              </a:buClr>
              <a:buSzPts val="2400"/>
              <a:buFont typeface="Arial"/>
              <a:buNone/>
              <a:defRPr b="1" i="0" sz="2400" u="none" cap="none" strike="noStrike">
                <a:solidFill>
                  <a:schemeClr val="accent4"/>
                </a:solidFill>
                <a:latin typeface="Calibri"/>
                <a:ea typeface="Calibri"/>
                <a:cs typeface="Calibri"/>
                <a:sym typeface="Calibri"/>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29"/>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lt1"/>
              </a:buClr>
              <a:buSzPts val="4800"/>
              <a:buFont typeface="Corbel"/>
              <a:buNone/>
              <a:defRPr b="1" i="0" sz="48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showMasterSp="0">
  <p:cSld name="5_Custom Layout">
    <p:bg>
      <p:bgPr>
        <a:solidFill>
          <a:schemeClr val="dk1"/>
        </a:solidFill>
      </p:bgPr>
    </p:bg>
    <p:spTree>
      <p:nvGrpSpPr>
        <p:cNvPr id="71" name="Shape 71"/>
        <p:cNvGrpSpPr/>
        <p:nvPr/>
      </p:nvGrpSpPr>
      <p:grpSpPr>
        <a:xfrm>
          <a:off x="0" y="0"/>
          <a:ext cx="0" cy="0"/>
          <a:chOff x="0" y="0"/>
          <a:chExt cx="0" cy="0"/>
        </a:xfrm>
      </p:grpSpPr>
      <p:sp>
        <p:nvSpPr>
          <p:cNvPr id="72" name="Google Shape;72;p30"/>
          <p:cNvSpPr/>
          <p:nvPr>
            <p:ph idx="2" type="pic"/>
          </p:nvPr>
        </p:nvSpPr>
        <p:spPr>
          <a:xfrm>
            <a:off x="0" y="0"/>
            <a:ext cx="12192000" cy="6858000"/>
          </a:xfrm>
          <a:prstGeom prst="rect">
            <a:avLst/>
          </a:prstGeom>
          <a:noFill/>
          <a:ln>
            <a:noFill/>
          </a:ln>
        </p:spPr>
      </p:sp>
      <p:sp>
        <p:nvSpPr>
          <p:cNvPr descr="Tall office building looking up" id="73" name="Google Shape;73;p30"/>
          <p:cNvSpPr/>
          <p:nvPr/>
        </p:nvSpPr>
        <p:spPr>
          <a:xfrm>
            <a:off x="3352800" y="685800"/>
            <a:ext cx="5486400" cy="5486400"/>
          </a:xfrm>
          <a:prstGeom prst="ellipse">
            <a:avLst/>
          </a:prstGeom>
          <a:solidFill>
            <a:schemeClr val="accent5">
              <a:alpha val="40000"/>
            </a:schemeClr>
          </a:solidFill>
          <a:ln cap="flat" cmpd="sng" w="603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4" name="Google Shape;74;p30"/>
          <p:cNvSpPr/>
          <p:nvPr/>
        </p:nvSpPr>
        <p:spPr>
          <a:xfrm>
            <a:off x="8138160" y="5669280"/>
            <a:ext cx="502920" cy="50292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5" name="Google Shape;75;p30"/>
          <p:cNvSpPr/>
          <p:nvPr/>
        </p:nvSpPr>
        <p:spPr>
          <a:xfrm>
            <a:off x="2915463" y="1295169"/>
            <a:ext cx="692878" cy="692878"/>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30"/>
          <p:cNvSpPr/>
          <p:nvPr/>
        </p:nvSpPr>
        <p:spPr>
          <a:xfrm>
            <a:off x="3398520" y="904895"/>
            <a:ext cx="251460" cy="25146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 name="Google Shape;77;p30"/>
          <p:cNvSpPr txBox="1"/>
          <p:nvPr>
            <p:ph idx="1" type="body"/>
          </p:nvPr>
        </p:nvSpPr>
        <p:spPr>
          <a:xfrm>
            <a:off x="4127927" y="4609453"/>
            <a:ext cx="3924934" cy="490538"/>
          </a:xfrm>
          <a:prstGeom prst="rect">
            <a:avLst/>
          </a:prstGeom>
          <a:noFill/>
          <a:ln>
            <a:noFill/>
          </a:ln>
        </p:spPr>
        <p:txBody>
          <a:bodyPr anchorCtr="0" anchor="b"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alibri"/>
                <a:ea typeface="Calibri"/>
                <a:cs typeface="Calibri"/>
                <a:sym typeface="Calibri"/>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 name="Google Shape;78;p30"/>
          <p:cNvSpPr txBox="1"/>
          <p:nvPr>
            <p:ph type="title"/>
          </p:nvPr>
        </p:nvSpPr>
        <p:spPr>
          <a:xfrm>
            <a:off x="4045678" y="1988047"/>
            <a:ext cx="4007183" cy="2374194"/>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lt1"/>
              </a:buClr>
              <a:buSzPts val="2800"/>
              <a:buFont typeface="Calibri"/>
              <a:buNone/>
              <a:defRPr b="0" i="0" sz="28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79" name="Shape 79"/>
        <p:cNvGrpSpPr/>
        <p:nvPr/>
      </p:nvGrpSpPr>
      <p:grpSpPr>
        <a:xfrm>
          <a:off x="0" y="0"/>
          <a:ext cx="0" cy="0"/>
          <a:chOff x="0" y="0"/>
          <a:chExt cx="0" cy="0"/>
        </a:xfrm>
      </p:grpSpPr>
      <p:sp>
        <p:nvSpPr>
          <p:cNvPr id="80" name="Google Shape;80;p31"/>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2000"/>
              <a:buFont typeface="Arial"/>
              <a:buNone/>
              <a:defRPr b="0" i="0" sz="20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31"/>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 name="Google Shape;82;p31"/>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 name="Google Shape;83;p31"/>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 name="Google Shape;84;p31"/>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31"/>
          <p:cNvSpPr/>
          <p:nvPr>
            <p:ph idx="2" type="pic"/>
          </p:nvPr>
        </p:nvSpPr>
        <p:spPr>
          <a:xfrm>
            <a:off x="1571515" y="1914044"/>
            <a:ext cx="3993624" cy="3617848"/>
          </a:xfrm>
          <a:prstGeom prst="rect">
            <a:avLst/>
          </a:prstGeom>
          <a:noFill/>
          <a:ln>
            <a:noFill/>
          </a:ln>
        </p:spPr>
      </p:sp>
      <p:sp>
        <p:nvSpPr>
          <p:cNvPr id="86" name="Google Shape;86;p31"/>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87" name="Shape 87"/>
        <p:cNvGrpSpPr/>
        <p:nvPr/>
      </p:nvGrpSpPr>
      <p:grpSpPr>
        <a:xfrm>
          <a:off x="0" y="0"/>
          <a:ext cx="0" cy="0"/>
          <a:chOff x="0" y="0"/>
          <a:chExt cx="0" cy="0"/>
        </a:xfrm>
      </p:grpSpPr>
      <p:sp>
        <p:nvSpPr>
          <p:cNvPr id="88" name="Google Shape;88;p32"/>
          <p:cNvSpPr/>
          <p:nvPr>
            <p:ph idx="2" type="pic"/>
          </p:nvPr>
        </p:nvSpPr>
        <p:spPr>
          <a:xfrm>
            <a:off x="5353508" y="2555551"/>
            <a:ext cx="1484985" cy="1280160"/>
          </a:xfrm>
          <a:prstGeom prst="rect">
            <a:avLst/>
          </a:prstGeom>
          <a:noFill/>
          <a:ln>
            <a:noFill/>
          </a:ln>
        </p:spPr>
      </p:sp>
      <p:sp>
        <p:nvSpPr>
          <p:cNvPr id="89" name="Google Shape;89;p32"/>
          <p:cNvSpPr/>
          <p:nvPr>
            <p:ph idx="3" type="pic"/>
          </p:nvPr>
        </p:nvSpPr>
        <p:spPr>
          <a:xfrm>
            <a:off x="3115921" y="2555551"/>
            <a:ext cx="1484985" cy="1280160"/>
          </a:xfrm>
          <a:prstGeom prst="rect">
            <a:avLst/>
          </a:prstGeom>
          <a:noFill/>
          <a:ln>
            <a:noFill/>
          </a:ln>
        </p:spPr>
      </p:sp>
      <p:sp>
        <p:nvSpPr>
          <p:cNvPr id="90" name="Google Shape;90;p32"/>
          <p:cNvSpPr/>
          <p:nvPr>
            <p:ph idx="4" type="pic"/>
          </p:nvPr>
        </p:nvSpPr>
        <p:spPr>
          <a:xfrm>
            <a:off x="7602465" y="2555551"/>
            <a:ext cx="1484985" cy="1280160"/>
          </a:xfrm>
          <a:prstGeom prst="rect">
            <a:avLst/>
          </a:prstGeom>
          <a:noFill/>
          <a:ln>
            <a:noFill/>
          </a:ln>
        </p:spPr>
      </p:sp>
      <p:sp>
        <p:nvSpPr>
          <p:cNvPr id="91" name="Google Shape;91;p32"/>
          <p:cNvSpPr/>
          <p:nvPr>
            <p:ph idx="5" type="pic"/>
          </p:nvPr>
        </p:nvSpPr>
        <p:spPr>
          <a:xfrm>
            <a:off x="9840051" y="2555551"/>
            <a:ext cx="1484985" cy="1280160"/>
          </a:xfrm>
          <a:prstGeom prst="rect">
            <a:avLst/>
          </a:prstGeom>
          <a:noFill/>
          <a:ln>
            <a:noFill/>
          </a:ln>
        </p:spPr>
      </p:sp>
      <p:sp>
        <p:nvSpPr>
          <p:cNvPr id="92" name="Google Shape;92;p32"/>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3F3F3F"/>
              </a:buClr>
              <a:buSzPts val="3200"/>
              <a:buFont typeface="Corbel"/>
              <a:buNone/>
              <a:defRPr b="0" i="0" sz="3200" u="none" cap="none" strike="noStrike">
                <a:solidFill>
                  <a:srgbClr val="3F3F3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32"/>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32"/>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32"/>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6" name="Google Shape;96;p32"/>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7" name="Google Shape;97;p32"/>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8" name="Google Shape;98;p32"/>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32"/>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32"/>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 name="Google Shape;101;p32"/>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2" name="Google Shape;102;p32"/>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3" name="Google Shape;103;p32"/>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32"/>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4"/>
              </a:buClr>
              <a:buSzPts val="2000"/>
              <a:buFont typeface="Arial"/>
              <a:buNone/>
              <a:defRPr b="1" i="0" sz="2000" u="none" cap="none" strike="noStrike">
                <a:solidFill>
                  <a:schemeClr val="accent4"/>
                </a:solidFill>
                <a:latin typeface="Corbel"/>
                <a:ea typeface="Corbel"/>
                <a:cs typeface="Corbel"/>
                <a:sym typeface="Corbel"/>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32"/>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32"/>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07" name="Shape 107"/>
        <p:cNvGrpSpPr/>
        <p:nvPr/>
      </p:nvGrpSpPr>
      <p:grpSpPr>
        <a:xfrm>
          <a:off x="0" y="0"/>
          <a:ext cx="0" cy="0"/>
          <a:chOff x="0" y="0"/>
          <a:chExt cx="0" cy="0"/>
        </a:xfrm>
      </p:grpSpPr>
      <p:sp>
        <p:nvSpPr>
          <p:cNvPr id="108" name="Google Shape;108;p33"/>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3F3F3F"/>
              </a:buClr>
              <a:buSzPts val="3200"/>
              <a:buFont typeface="Corbel"/>
              <a:buNone/>
              <a:defRPr b="0" i="0" sz="3200" u="none" cap="none" strike="noStrike">
                <a:solidFill>
                  <a:srgbClr val="3F3F3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hree Column">
  <p:cSld name="Content Three Column">
    <p:spTree>
      <p:nvGrpSpPr>
        <p:cNvPr id="109" name="Shape 109"/>
        <p:cNvGrpSpPr/>
        <p:nvPr/>
      </p:nvGrpSpPr>
      <p:grpSpPr>
        <a:xfrm>
          <a:off x="0" y="0"/>
          <a:ext cx="0" cy="0"/>
          <a:chOff x="0" y="0"/>
          <a:chExt cx="0" cy="0"/>
        </a:xfrm>
      </p:grpSpPr>
      <p:sp>
        <p:nvSpPr>
          <p:cNvPr id="110" name="Google Shape;110;p34"/>
          <p:cNvSpPr txBox="1"/>
          <p:nvPr>
            <p:ph idx="1" type="body"/>
          </p:nvPr>
        </p:nvSpPr>
        <p:spPr>
          <a:xfrm>
            <a:off x="660400" y="2037656"/>
            <a:ext cx="3474720" cy="43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1" name="Google Shape;111;p34"/>
          <p:cNvSpPr txBox="1"/>
          <p:nvPr>
            <p:ph idx="2" type="body"/>
          </p:nvPr>
        </p:nvSpPr>
        <p:spPr>
          <a:xfrm>
            <a:off x="660400" y="2664637"/>
            <a:ext cx="3474720" cy="293528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34"/>
          <p:cNvSpPr txBox="1"/>
          <p:nvPr>
            <p:ph idx="3" type="body"/>
          </p:nvPr>
        </p:nvSpPr>
        <p:spPr>
          <a:xfrm>
            <a:off x="8044180" y="2052478"/>
            <a:ext cx="3474720" cy="43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34"/>
          <p:cNvSpPr txBox="1"/>
          <p:nvPr>
            <p:ph idx="4" type="body"/>
          </p:nvPr>
        </p:nvSpPr>
        <p:spPr>
          <a:xfrm>
            <a:off x="8056880" y="2668182"/>
            <a:ext cx="3474720" cy="293528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 name="Google Shape;114;p34"/>
          <p:cNvSpPr txBox="1"/>
          <p:nvPr>
            <p:ph idx="5" type="body"/>
          </p:nvPr>
        </p:nvSpPr>
        <p:spPr>
          <a:xfrm>
            <a:off x="4352290" y="2048933"/>
            <a:ext cx="3474720" cy="4381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orbel"/>
                <a:ea typeface="Corbel"/>
                <a:cs typeface="Corbel"/>
                <a:sym typeface="Corbel"/>
              </a:defRPr>
            </a:lvl1pPr>
            <a:lvl2pPr indent="-228600" lvl="1" marL="914400" marR="0" rtl="0" algn="l">
              <a:lnSpc>
                <a:spcPct val="90000"/>
              </a:lnSpc>
              <a:spcBef>
                <a:spcPts val="500"/>
              </a:spcBef>
              <a:spcAft>
                <a:spcPts val="0"/>
              </a:spcAft>
              <a:buClr>
                <a:srgbClr val="3F3F3F"/>
              </a:buClr>
              <a:buSzPts val="1600"/>
              <a:buFont typeface="Arial"/>
              <a:buNone/>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 name="Google Shape;115;p34"/>
          <p:cNvSpPr txBox="1"/>
          <p:nvPr>
            <p:ph idx="6" type="body"/>
          </p:nvPr>
        </p:nvSpPr>
        <p:spPr>
          <a:xfrm>
            <a:off x="4364990" y="2664637"/>
            <a:ext cx="3474720" cy="293528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4"/>
              </a:buClr>
              <a:buSzPts val="2000"/>
              <a:buFont typeface="Noto Sans Symbols"/>
              <a:buChar char="▪"/>
              <a:defRPr b="0" i="0" sz="2000" u="none" cap="none" strike="noStrike">
                <a:solidFill>
                  <a:schemeClr val="dk1"/>
                </a:solidFill>
                <a:latin typeface="Calibri"/>
                <a:ea typeface="Calibri"/>
                <a:cs typeface="Calibri"/>
                <a:sym typeface="Calibri"/>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34"/>
          <p:cNvSpPr/>
          <p:nvPr/>
        </p:nvSpPr>
        <p:spPr>
          <a:xfrm>
            <a:off x="10700126" y="788523"/>
            <a:ext cx="1155906" cy="99647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34"/>
          <p:cNvSpPr/>
          <p:nvPr/>
        </p:nvSpPr>
        <p:spPr>
          <a:xfrm>
            <a:off x="11388427" y="1859136"/>
            <a:ext cx="315205" cy="271728"/>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Calibri"/>
              <a:ea typeface="Calibri"/>
              <a:cs typeface="Calibri"/>
              <a:sym typeface="Calibri"/>
            </a:endParaRPr>
          </a:p>
        </p:txBody>
      </p:sp>
      <p:sp>
        <p:nvSpPr>
          <p:cNvPr id="118" name="Google Shape;118;p34"/>
          <p:cNvSpPr/>
          <p:nvPr/>
        </p:nvSpPr>
        <p:spPr>
          <a:xfrm>
            <a:off x="9014155" y="740289"/>
            <a:ext cx="379060" cy="326776"/>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Calibri"/>
              <a:ea typeface="Calibri"/>
              <a:cs typeface="Calibri"/>
              <a:sym typeface="Calibri"/>
            </a:endParaRPr>
          </a:p>
        </p:txBody>
      </p:sp>
      <p:sp>
        <p:nvSpPr>
          <p:cNvPr id="119" name="Google Shape;119;p3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800"/>
              <a:buFont typeface="Corbel"/>
              <a:buNone/>
              <a:defRPr b="1" i="0" sz="4800" u="none" cap="none" strike="noStrike">
                <a:solidFill>
                  <a:schemeClr val="dk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34"/>
          <p:cNvSpPr/>
          <p:nvPr>
            <p:ph idx="7" type="pic"/>
          </p:nvPr>
        </p:nvSpPr>
        <p:spPr>
          <a:xfrm>
            <a:off x="9393238" y="2"/>
            <a:ext cx="2798762" cy="1354861"/>
          </a:xfrm>
          <a:prstGeom prst="rect">
            <a:avLst/>
          </a:prstGeom>
          <a:noFill/>
          <a:ln>
            <a:noFill/>
          </a:ln>
        </p:spPr>
      </p:sp>
    </p:spTree>
  </p:cSld>
  <p:clrMapOvr>
    <a:masterClrMapping/>
  </p:clrMapOvr>
  <p:extLst>
    <p:ext uri="{DCECCB84-F9BA-43D5-87BE-67443E8EF086}">
      <p15:sldGuideLst>
        <p15:guide id="1" orient="horz" pos="127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9" name="Shape 9"/>
        <p:cNvGrpSpPr/>
        <p:nvPr/>
      </p:nvGrpSpPr>
      <p:grpSpPr>
        <a:xfrm>
          <a:off x="0" y="0"/>
          <a:ext cx="0" cy="0"/>
          <a:chOff x="0" y="0"/>
          <a:chExt cx="0" cy="0"/>
        </a:xfrm>
      </p:grpSpPr>
      <p:sp>
        <p:nvSpPr>
          <p:cNvPr id="10" name="Google Shape;10;p2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Calibri"/>
                <a:ea typeface="Calibri"/>
                <a:cs typeface="Calibri"/>
                <a:sym typeface="Calibri"/>
              </a:rPr>
              <a:t>3/6/2022</a:t>
            </a:r>
            <a:endParaRPr b="0" i="0" sz="1100" u="none" cap="none" strike="noStrike">
              <a:solidFill>
                <a:schemeClr val="accent2"/>
              </a:solidFill>
              <a:latin typeface="Calibri"/>
              <a:ea typeface="Calibri"/>
              <a:cs typeface="Calibri"/>
              <a:sym typeface="Calibri"/>
            </a:endParaRPr>
          </a:p>
        </p:txBody>
      </p:sp>
      <p:sp>
        <p:nvSpPr>
          <p:cNvPr id="11" name="Google Shape;11;p2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Calibri"/>
                <a:ea typeface="Calibri"/>
                <a:cs typeface="Calibri"/>
                <a:sym typeface="Calibri"/>
              </a:rPr>
              <a:t>Annual Review</a:t>
            </a:r>
            <a:endParaRPr/>
          </a:p>
        </p:txBody>
      </p:sp>
      <p:sp>
        <p:nvSpPr>
          <p:cNvPr id="12" name="Google Shape;12;p2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Calibri"/>
                <a:ea typeface="Calibri"/>
                <a:cs typeface="Calibri"/>
                <a:sym typeface="Calibri"/>
              </a:rPr>
              <a:t>‹#›</a:t>
            </a:fld>
            <a:endParaRPr b="0" i="0" sz="1100" u="none" cap="none" strike="noStrike">
              <a:solidFill>
                <a:schemeClr val="accent4"/>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hyperlink" Target="https://archive.ics.uci.edu/ml/datasets/Seoul+Bike+Sharing+Deman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hyperlink" Target="https://www.google.com/url?sa=t&amp;rct=j&amp;q=&amp;esrc=s&amp;source=web&amp;cd=&amp;cad=rja&amp;uact=8&amp;ved=2ahUKEwi15PHG2bD2AhWcjIkEHRBDAkMQFnoECCYQAQ&amp;url=https%3A%2F%2Fwww.section.io%2Fengineering-education%2Fintroduction-to-random-forest-in-machine-learning%2F&amp;usg=AOvVaw3PDxHxgHagIj7MhLL0AzRe" TargetMode="External"/><Relationship Id="rId5" Type="http://schemas.openxmlformats.org/officeDocument/2006/relationships/hyperlink" Target="https://www.section.io/engineering-education/introduction-to-random-forest-in-machine-learning/" TargetMode="External"/><Relationship Id="rId6" Type="http://schemas.openxmlformats.org/officeDocument/2006/relationships/image" Target="../media/image7.png"/><Relationship Id="rId7" Type="http://schemas.openxmlformats.org/officeDocument/2006/relationships/hyperlink" Target="https://builtin.com/data-science/random-forest-algorithm" TargetMode="External"/><Relationship Id="rId8" Type="http://schemas.openxmlformats.org/officeDocument/2006/relationships/hyperlink" Target="https://www.google.com/url?sa=t&amp;rct=j&amp;q=&amp;esrc=s&amp;source=web&amp;cd=&amp;cad=rja&amp;uact=8&amp;ved=2ahUKEwi15PHG2bD2AhWcjIkEHRBDAkMQtwJ6BAgpEAM&amp;url=https%3A%2F%2Fbuiltin.com%2Fdata-science%2Frandom-forest-algorithm&amp;usg=AOvVaw2ghlEdZY4-oSQaOM7Gpyk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descr="Blue glass building" id="125" name="Google Shape;125;p1"/>
          <p:cNvPicPr preferRelativeResize="0"/>
          <p:nvPr>
            <p:ph idx="2" type="pic"/>
          </p:nvPr>
        </p:nvPicPr>
        <p:blipFill rotWithShape="1">
          <a:blip r:embed="rId3">
            <a:alphaModFix amt="80000"/>
          </a:blip>
          <a:srcRect b="7802" l="0" r="0" t="7802"/>
          <a:stretch/>
        </p:blipFill>
        <p:spPr>
          <a:xfrm>
            <a:off x="0" y="0"/>
            <a:ext cx="12192000" cy="6858000"/>
          </a:xfrm>
          <a:prstGeom prst="rect">
            <a:avLst/>
          </a:prstGeom>
          <a:blipFill rotWithShape="1">
            <a:blip r:embed="rId4">
              <a:alphaModFix amt="80000"/>
            </a:blip>
            <a:stretch>
              <a:fillRect b="0" l="0" r="0" t="0"/>
            </a:stretch>
          </a:blipFill>
          <a:ln>
            <a:noFill/>
          </a:ln>
        </p:spPr>
      </p:pic>
      <p:sp>
        <p:nvSpPr>
          <p:cNvPr id="126" name="Google Shape;126;p1"/>
          <p:cNvSpPr/>
          <p:nvPr/>
        </p:nvSpPr>
        <p:spPr>
          <a:xfrm>
            <a:off x="812215" y="1414388"/>
            <a:ext cx="10598779" cy="4009997"/>
          </a:xfrm>
          <a:prstGeom prst="rect">
            <a:avLst/>
          </a:prstGeom>
          <a:solidFill>
            <a:schemeClr val="accent5">
              <a:alpha val="40000"/>
            </a:schemeClr>
          </a:solidFill>
          <a:ln cap="flat" cmpd="sng" w="603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FCA774"/>
              </a:solidFill>
              <a:latin typeface="Calibri"/>
              <a:ea typeface="Calibri"/>
              <a:cs typeface="Calibri"/>
              <a:sym typeface="Calibri"/>
            </a:endParaRPr>
          </a:p>
        </p:txBody>
      </p:sp>
      <p:sp>
        <p:nvSpPr>
          <p:cNvPr id="127" name="Google Shape;127;p1"/>
          <p:cNvSpPr txBox="1"/>
          <p:nvPr/>
        </p:nvSpPr>
        <p:spPr>
          <a:xfrm>
            <a:off x="983428" y="2045184"/>
            <a:ext cx="9376855" cy="4647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600"/>
              <a:buFont typeface="Corbel"/>
              <a:buNone/>
            </a:pPr>
            <a:r>
              <a:rPr b="1" lang="en-US" sz="2600" u="none">
                <a:solidFill>
                  <a:schemeClr val="lt1"/>
                </a:solidFill>
                <a:latin typeface="Corbel"/>
                <a:ea typeface="Corbel"/>
                <a:cs typeface="Corbel"/>
                <a:sym typeface="Corbel"/>
              </a:rPr>
              <a:t>CBD 2214 2 Big Data Fundamentals - Data Storage Networking</a:t>
            </a:r>
            <a:endParaRPr/>
          </a:p>
        </p:txBody>
      </p:sp>
      <p:sp>
        <p:nvSpPr>
          <p:cNvPr id="128" name="Google Shape;128;p1"/>
          <p:cNvSpPr/>
          <p:nvPr/>
        </p:nvSpPr>
        <p:spPr>
          <a:xfrm>
            <a:off x="753466" y="767852"/>
            <a:ext cx="459924" cy="45992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 name="Google Shape;129;p1"/>
          <p:cNvSpPr/>
          <p:nvPr/>
        </p:nvSpPr>
        <p:spPr>
          <a:xfrm>
            <a:off x="11126622" y="5595769"/>
            <a:ext cx="284372" cy="28437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1"/>
          <p:cNvSpPr txBox="1"/>
          <p:nvPr/>
        </p:nvSpPr>
        <p:spPr>
          <a:xfrm>
            <a:off x="983429" y="1626196"/>
            <a:ext cx="3168694" cy="4647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CA774"/>
              </a:buClr>
              <a:buSzPts val="2000"/>
              <a:buFont typeface="Corbel"/>
              <a:buNone/>
            </a:pPr>
            <a:r>
              <a:rPr b="1" lang="en-US" sz="2000" u="none">
                <a:solidFill>
                  <a:srgbClr val="FCA774"/>
                </a:solidFill>
                <a:latin typeface="Corbel"/>
                <a:ea typeface="Corbel"/>
                <a:cs typeface="Corbel"/>
                <a:sym typeface="Corbel"/>
              </a:rPr>
              <a:t>Lambton College, Toronto</a:t>
            </a:r>
            <a:endParaRPr/>
          </a:p>
        </p:txBody>
      </p:sp>
      <p:sp>
        <p:nvSpPr>
          <p:cNvPr id="131" name="Google Shape;131;p1"/>
          <p:cNvSpPr txBox="1"/>
          <p:nvPr>
            <p:ph idx="1" type="body"/>
          </p:nvPr>
        </p:nvSpPr>
        <p:spPr>
          <a:xfrm>
            <a:off x="8192816" y="3404564"/>
            <a:ext cx="3075992" cy="2019821"/>
          </a:xfrm>
          <a:prstGeom prst="rect">
            <a:avLst/>
          </a:prstGeom>
          <a:noFill/>
          <a:ln>
            <a:noFill/>
          </a:ln>
        </p:spPr>
        <p:txBody>
          <a:bodyPr anchorCtr="0" anchor="t" bIns="45700" lIns="91425" spcFirstLastPara="1" rIns="91425" wrap="square" tIns="45700">
            <a:noAutofit/>
          </a:bodyPr>
          <a:lstStyle/>
          <a:p>
            <a:pPr indent="-266700" lvl="0" marL="266700" rtl="0" algn="r">
              <a:lnSpc>
                <a:spcPct val="90000"/>
              </a:lnSpc>
              <a:spcBef>
                <a:spcPts val="0"/>
              </a:spcBef>
              <a:spcAft>
                <a:spcPts val="0"/>
              </a:spcAft>
              <a:buClr>
                <a:schemeClr val="accent4"/>
              </a:buClr>
              <a:buSzPts val="2400"/>
              <a:buNone/>
            </a:pPr>
            <a:r>
              <a:rPr lang="en-US"/>
              <a:t>Group Details: </a:t>
            </a:r>
            <a:endParaRPr/>
          </a:p>
          <a:p>
            <a:pPr indent="0" lvl="0" marL="0" rtl="0" algn="r">
              <a:lnSpc>
                <a:spcPct val="90000"/>
              </a:lnSpc>
              <a:spcBef>
                <a:spcPts val="1000"/>
              </a:spcBef>
              <a:spcAft>
                <a:spcPts val="0"/>
              </a:spcAft>
              <a:buClr>
                <a:schemeClr val="lt1"/>
              </a:buClr>
              <a:buSzPts val="1600"/>
              <a:buNone/>
            </a:pPr>
            <a:r>
              <a:rPr lang="en-US" sz="1600">
                <a:solidFill>
                  <a:schemeClr val="lt1"/>
                </a:solidFill>
                <a:latin typeface="Corbel"/>
                <a:ea typeface="Corbel"/>
                <a:cs typeface="Corbel"/>
                <a:sym typeface="Corbel"/>
              </a:rPr>
              <a:t>Akshar Chaklashiya  (350)</a:t>
            </a:r>
            <a:endParaRPr/>
          </a:p>
          <a:p>
            <a:pPr indent="0" lvl="0" marL="0" rtl="0" algn="r">
              <a:lnSpc>
                <a:spcPct val="90000"/>
              </a:lnSpc>
              <a:spcBef>
                <a:spcPts val="1000"/>
              </a:spcBef>
              <a:spcAft>
                <a:spcPts val="0"/>
              </a:spcAft>
              <a:buClr>
                <a:schemeClr val="lt1"/>
              </a:buClr>
              <a:buSzPts val="1600"/>
              <a:buNone/>
            </a:pPr>
            <a:r>
              <a:rPr lang="en-US" sz="1600">
                <a:solidFill>
                  <a:schemeClr val="lt1"/>
                </a:solidFill>
                <a:latin typeface="Corbel"/>
                <a:ea typeface="Corbel"/>
                <a:cs typeface="Corbel"/>
                <a:sym typeface="Corbel"/>
              </a:rPr>
              <a:t> Ankit Baranwal  (111)</a:t>
            </a:r>
            <a:endParaRPr/>
          </a:p>
          <a:p>
            <a:pPr indent="0" lvl="0" marL="0" rtl="0" algn="r">
              <a:lnSpc>
                <a:spcPct val="90000"/>
              </a:lnSpc>
              <a:spcBef>
                <a:spcPts val="1000"/>
              </a:spcBef>
              <a:spcAft>
                <a:spcPts val="0"/>
              </a:spcAft>
              <a:buClr>
                <a:schemeClr val="lt1"/>
              </a:buClr>
              <a:buSzPts val="1600"/>
              <a:buNone/>
            </a:pPr>
            <a:r>
              <a:rPr lang="en-US" sz="1600">
                <a:solidFill>
                  <a:schemeClr val="lt1"/>
                </a:solidFill>
                <a:latin typeface="Corbel"/>
                <a:ea typeface="Corbel"/>
                <a:cs typeface="Corbel"/>
                <a:sym typeface="Corbel"/>
              </a:rPr>
              <a:t>Bharat Vora  (032)</a:t>
            </a:r>
            <a:endParaRPr/>
          </a:p>
          <a:p>
            <a:pPr indent="0" lvl="0" marL="0" rtl="0" algn="r">
              <a:lnSpc>
                <a:spcPct val="90000"/>
              </a:lnSpc>
              <a:spcBef>
                <a:spcPts val="1000"/>
              </a:spcBef>
              <a:spcAft>
                <a:spcPts val="0"/>
              </a:spcAft>
              <a:buClr>
                <a:schemeClr val="lt1"/>
              </a:buClr>
              <a:buSzPts val="1600"/>
              <a:buNone/>
            </a:pPr>
            <a:r>
              <a:rPr lang="en-US" sz="1600">
                <a:solidFill>
                  <a:schemeClr val="lt1"/>
                </a:solidFill>
                <a:latin typeface="Corbel"/>
                <a:ea typeface="Corbel"/>
                <a:cs typeface="Corbel"/>
                <a:sym typeface="Corbel"/>
              </a:rPr>
              <a:t>Naman Shah  (267)</a:t>
            </a:r>
            <a:endParaRPr/>
          </a:p>
        </p:txBody>
      </p:sp>
      <p:sp>
        <p:nvSpPr>
          <p:cNvPr id="132" name="Google Shape;132;p1"/>
          <p:cNvSpPr txBox="1"/>
          <p:nvPr/>
        </p:nvSpPr>
        <p:spPr>
          <a:xfrm>
            <a:off x="1093180" y="3296755"/>
            <a:ext cx="3409336" cy="125513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F7F7F"/>
              </a:buClr>
              <a:buSzPts val="2400"/>
              <a:buFont typeface="Corbel"/>
              <a:buNone/>
            </a:pPr>
            <a:r>
              <a:rPr b="1" lang="en-US" sz="2400" u="none">
                <a:solidFill>
                  <a:srgbClr val="7F7F7F"/>
                </a:solidFill>
                <a:latin typeface="Corbel"/>
                <a:ea typeface="Corbel"/>
                <a:cs typeface="Corbel"/>
                <a:sym typeface="Corbel"/>
              </a:rPr>
              <a:t>Subject: </a:t>
            </a:r>
            <a:r>
              <a:rPr b="1" lang="en-US" sz="4000" u="none">
                <a:solidFill>
                  <a:srgbClr val="7F7F7F"/>
                </a:solidFill>
                <a:latin typeface="Corbel"/>
                <a:ea typeface="Corbel"/>
                <a:cs typeface="Corbel"/>
                <a:sym typeface="Corbel"/>
              </a:rPr>
              <a:t>Assignment 1</a:t>
            </a:r>
            <a:endParaRPr/>
          </a:p>
        </p:txBody>
      </p:sp>
      <p:sp>
        <p:nvSpPr>
          <p:cNvPr id="133" name="Google Shape;133;p1"/>
          <p:cNvSpPr txBox="1"/>
          <p:nvPr/>
        </p:nvSpPr>
        <p:spPr>
          <a:xfrm>
            <a:off x="8443666" y="2565509"/>
            <a:ext cx="3079641" cy="4647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FCA774"/>
              </a:buClr>
              <a:buSzPts val="2000"/>
              <a:buFont typeface="Corbel"/>
              <a:buNone/>
            </a:pPr>
            <a:r>
              <a:rPr b="1" lang="en-US" sz="2000" u="none">
                <a:solidFill>
                  <a:srgbClr val="FCA774"/>
                </a:solidFill>
                <a:latin typeface="Corbel"/>
                <a:ea typeface="Corbel"/>
                <a:cs typeface="Corbel"/>
                <a:sym typeface="Corbel"/>
              </a:rPr>
              <a:t>Professor:- Graham Wall</a:t>
            </a:r>
            <a:endParaRPr b="1" sz="2000" u="none">
              <a:solidFill>
                <a:srgbClr val="FCA774"/>
              </a:solidFill>
              <a:latin typeface="Corbel"/>
              <a:ea typeface="Corbel"/>
              <a:cs typeface="Corbel"/>
              <a:sym typeface="Corbel"/>
            </a:endParaRPr>
          </a:p>
          <a:p>
            <a:pPr indent="0" lvl="0" marL="0" marR="0" rtl="0" algn="l">
              <a:lnSpc>
                <a:spcPct val="90000"/>
              </a:lnSpc>
              <a:spcBef>
                <a:spcPts val="1000"/>
              </a:spcBef>
              <a:spcAft>
                <a:spcPts val="0"/>
              </a:spcAft>
              <a:buClr>
                <a:schemeClr val="lt1"/>
              </a:buClr>
              <a:buSzPts val="2000"/>
              <a:buFont typeface="Corbel"/>
              <a:buNone/>
            </a:pPr>
            <a:r>
              <a:t/>
            </a:r>
            <a:endParaRPr b="1" sz="2000" u="none">
              <a:solidFill>
                <a:srgbClr val="FCA774"/>
              </a:solidFill>
              <a:latin typeface="Corbel"/>
              <a:ea typeface="Corbel"/>
              <a:cs typeface="Corbel"/>
              <a:sym typeface="Corbel"/>
            </a:endParaRPr>
          </a:p>
          <a:p>
            <a:pPr indent="0" lvl="0" marL="0" marR="0" rtl="0" algn="l">
              <a:lnSpc>
                <a:spcPct val="90000"/>
              </a:lnSpc>
              <a:spcBef>
                <a:spcPts val="1000"/>
              </a:spcBef>
              <a:spcAft>
                <a:spcPts val="0"/>
              </a:spcAft>
              <a:buClr>
                <a:schemeClr val="lt1"/>
              </a:buClr>
              <a:buSzPts val="2000"/>
              <a:buFont typeface="Corbel"/>
              <a:buNone/>
            </a:pPr>
            <a:r>
              <a:t/>
            </a:r>
            <a:endParaRPr b="1" sz="2000" u="none">
              <a:solidFill>
                <a:srgbClr val="FCA774"/>
              </a:solidFill>
              <a:latin typeface="Corbel"/>
              <a:ea typeface="Corbel"/>
              <a:cs typeface="Corbel"/>
              <a:sym typeface="Corbe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orbel"/>
              <a:buNone/>
            </a:pPr>
            <a:r>
              <a:rPr lang="en-US"/>
              <a:t>Dataset  </a:t>
            </a:r>
            <a:endParaRPr/>
          </a:p>
        </p:txBody>
      </p:sp>
      <p:sp>
        <p:nvSpPr>
          <p:cNvPr id="140" name="Google Shape;140;p2"/>
          <p:cNvSpPr txBox="1"/>
          <p:nvPr>
            <p:ph idx="1" type="body"/>
          </p:nvPr>
        </p:nvSpPr>
        <p:spPr>
          <a:xfrm>
            <a:off x="660400" y="2016708"/>
            <a:ext cx="5012612" cy="3560763"/>
          </a:xfrm>
          <a:prstGeom prst="rect">
            <a:avLst/>
          </a:prstGeom>
          <a:noFill/>
          <a:ln>
            <a:noFill/>
          </a:ln>
        </p:spPr>
        <p:txBody>
          <a:bodyPr anchorCtr="0" anchor="t" bIns="45700" lIns="91425" spcFirstLastPara="1" rIns="91425" wrap="square" tIns="45700">
            <a:noAutofit/>
          </a:bodyPr>
          <a:lstStyle/>
          <a:p>
            <a:pPr indent="-266700" lvl="0" marL="266700" rtl="0" algn="l">
              <a:lnSpc>
                <a:spcPct val="150000"/>
              </a:lnSpc>
              <a:spcBef>
                <a:spcPts val="0"/>
              </a:spcBef>
              <a:spcAft>
                <a:spcPts val="0"/>
              </a:spcAft>
              <a:buClr>
                <a:schemeClr val="accent4"/>
              </a:buClr>
              <a:buSzPts val="1800"/>
              <a:buFont typeface="Noto Sans Symbols"/>
              <a:buChar char="▪"/>
            </a:pPr>
            <a:r>
              <a:rPr b="0" i="0" lang="en-US" sz="1800" u="none" strike="noStrike">
                <a:solidFill>
                  <a:srgbClr val="000000"/>
                </a:solidFill>
                <a:latin typeface="Times New Roman"/>
                <a:ea typeface="Times New Roman"/>
                <a:cs typeface="Times New Roman"/>
                <a:sym typeface="Times New Roman"/>
              </a:rPr>
              <a:t>Rental bikes are currently being offered in several big locations to improve transportation comfort. It is critical to have the rental bike ready and accessible to the public at the appropriate moment since this reduces the amount of time people must wait.</a:t>
            </a:r>
            <a:endParaRPr/>
          </a:p>
          <a:p>
            <a:pPr indent="-266700" lvl="0" marL="266700" rtl="0" algn="l">
              <a:lnSpc>
                <a:spcPct val="150000"/>
              </a:lnSpc>
              <a:spcBef>
                <a:spcPts val="1000"/>
              </a:spcBef>
              <a:spcAft>
                <a:spcPts val="0"/>
              </a:spcAft>
              <a:buClr>
                <a:schemeClr val="accent4"/>
              </a:buClr>
              <a:buSzPts val="1800"/>
              <a:buFont typeface="Noto Sans Symbols"/>
              <a:buChar char="▪"/>
            </a:pPr>
            <a:r>
              <a:rPr b="0" i="0" lang="en-US" sz="1800" u="none" strike="noStrike">
                <a:solidFill>
                  <a:srgbClr val="000000"/>
                </a:solidFill>
                <a:latin typeface="Times New Roman"/>
                <a:ea typeface="Times New Roman"/>
                <a:cs typeface="Times New Roman"/>
                <a:sym typeface="Times New Roman"/>
              </a:rPr>
              <a:t>The most important component in predicting the number of rental bikes needed at each hour is in order to maintain a steady supply.</a:t>
            </a:r>
            <a:endParaRPr/>
          </a:p>
          <a:p>
            <a:pPr indent="-139700" lvl="0" marL="266700" rtl="0" algn="l">
              <a:lnSpc>
                <a:spcPct val="150000"/>
              </a:lnSpc>
              <a:spcBef>
                <a:spcPts val="1000"/>
              </a:spcBef>
              <a:spcAft>
                <a:spcPts val="0"/>
              </a:spcAft>
              <a:buClr>
                <a:schemeClr val="accent4"/>
              </a:buClr>
              <a:buSzPts val="2000"/>
              <a:buFont typeface="Noto Sans Symbols"/>
              <a:buNone/>
            </a:pPr>
            <a:r>
              <a:t/>
            </a:r>
            <a:endParaRPr/>
          </a:p>
        </p:txBody>
      </p:sp>
      <p:pic>
        <p:nvPicPr>
          <p:cNvPr id="141" name="Google Shape;141;p2"/>
          <p:cNvPicPr preferRelativeResize="0"/>
          <p:nvPr>
            <p:ph idx="2" type="pic"/>
          </p:nvPr>
        </p:nvPicPr>
        <p:blipFill rotWithShape="1">
          <a:blip r:embed="rId3">
            <a:alphaModFix/>
          </a:blip>
          <a:srcRect b="0" l="15373" r="15373" t="0"/>
          <a:stretch/>
        </p:blipFill>
        <p:spPr>
          <a:xfrm>
            <a:off x="5789400" y="521602"/>
            <a:ext cx="5855754" cy="5631571"/>
          </a:xfrm>
          <a:prstGeom prst="rect">
            <a:avLst/>
          </a:prstGeom>
          <a:noFill/>
          <a:ln>
            <a:noFill/>
          </a:ln>
        </p:spPr>
      </p:pic>
      <p:sp>
        <p:nvSpPr>
          <p:cNvPr id="142" name="Google Shape;142;p2"/>
          <p:cNvSpPr txBox="1"/>
          <p:nvPr/>
        </p:nvSpPr>
        <p:spPr>
          <a:xfrm>
            <a:off x="2866053" y="1111252"/>
            <a:ext cx="262423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Calibri"/>
              <a:buNone/>
            </a:pPr>
            <a:r>
              <a:rPr lang="en-US" sz="1600">
                <a:solidFill>
                  <a:schemeClr val="dk1"/>
                </a:solidFill>
                <a:latin typeface="Calibri"/>
                <a:ea typeface="Calibri"/>
                <a:cs typeface="Calibri"/>
                <a:sym typeface="Calibri"/>
              </a:rPr>
              <a:t>Source: UCI Dataset (</a:t>
            </a:r>
            <a:r>
              <a:rPr lang="en-US" sz="1600" u="sng">
                <a:solidFill>
                  <a:schemeClr val="dk1"/>
                </a:solidFill>
                <a:latin typeface="Calibri"/>
                <a:ea typeface="Calibri"/>
                <a:cs typeface="Calibri"/>
                <a:sym typeface="Calibri"/>
                <a:hlinkClick r:id="rId4">
                  <a:extLst>
                    <a:ext uri="{A12FA001-AC4F-418D-AE19-62706E023703}">
                      <ahyp:hlinkClr val="tx"/>
                    </a:ext>
                  </a:extLst>
                </a:hlinkClick>
              </a:rPr>
              <a:t>Link</a:t>
            </a:r>
            <a:r>
              <a:rPr lang="en-US" sz="1600">
                <a:solidFill>
                  <a:schemeClr val="dk1"/>
                </a:solidFill>
                <a:latin typeface="Calibri"/>
                <a:ea typeface="Calibri"/>
                <a:cs typeface="Calibri"/>
                <a:sym typeface="Calibri"/>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46" name="Shape 146"/>
        <p:cNvGrpSpPr/>
        <p:nvPr/>
      </p:nvGrpSpPr>
      <p:grpSpPr>
        <a:xfrm>
          <a:off x="0" y="0"/>
          <a:ext cx="0" cy="0"/>
          <a:chOff x="0" y="0"/>
          <a:chExt cx="0" cy="0"/>
        </a:xfrm>
      </p:grpSpPr>
      <p:sp>
        <p:nvSpPr>
          <p:cNvPr id="147" name="Google Shape;147;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orbel"/>
              <a:buNone/>
            </a:pPr>
            <a:r>
              <a:rPr lang="en-US"/>
              <a:t>What we’re predicting?</a:t>
            </a:r>
            <a:endParaRPr/>
          </a:p>
        </p:txBody>
      </p:sp>
      <p:sp>
        <p:nvSpPr>
          <p:cNvPr id="148" name="Google Shape;148;p3"/>
          <p:cNvSpPr txBox="1"/>
          <p:nvPr>
            <p:ph idx="1" type="body"/>
          </p:nvPr>
        </p:nvSpPr>
        <p:spPr>
          <a:xfrm>
            <a:off x="660400" y="2799934"/>
            <a:ext cx="5665755" cy="2901069"/>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1800"/>
              <a:buFont typeface="Noto Sans Symbols"/>
              <a:buChar char="▪"/>
            </a:pPr>
            <a:r>
              <a:rPr b="0" i="0" lang="en-US" sz="1800" u="none" strike="noStrike">
                <a:solidFill>
                  <a:srgbClr val="000000"/>
                </a:solidFill>
                <a:latin typeface="Times New Roman"/>
                <a:ea typeface="Times New Roman"/>
                <a:cs typeface="Times New Roman"/>
                <a:sym typeface="Times New Roman"/>
              </a:rPr>
              <a:t>We are predicting the rental number of bikes in this assignment using other attributes of the dataset.</a:t>
            </a:r>
            <a:endParaRPr/>
          </a:p>
          <a:p>
            <a:pPr indent="-152400" lvl="0" marL="266700" rtl="0" algn="l">
              <a:lnSpc>
                <a:spcPct val="90000"/>
              </a:lnSpc>
              <a:spcBef>
                <a:spcPts val="1000"/>
              </a:spcBef>
              <a:spcAft>
                <a:spcPts val="0"/>
              </a:spcAft>
              <a:buClr>
                <a:schemeClr val="accent4"/>
              </a:buClr>
              <a:buSzPts val="1800"/>
              <a:buFont typeface="Noto Sans Symbols"/>
              <a:buNone/>
            </a:pPr>
            <a:r>
              <a:t/>
            </a:r>
            <a:endParaRPr sz="1800">
              <a:solidFill>
                <a:srgbClr val="000000"/>
              </a:solidFill>
              <a:latin typeface="Times New Roman"/>
              <a:ea typeface="Times New Roman"/>
              <a:cs typeface="Times New Roman"/>
              <a:sym typeface="Times New Roman"/>
            </a:endParaRPr>
          </a:p>
          <a:p>
            <a:pPr indent="-266700" lvl="0" marL="266700" rtl="0" algn="l">
              <a:lnSpc>
                <a:spcPct val="90000"/>
              </a:lnSpc>
              <a:spcBef>
                <a:spcPts val="1000"/>
              </a:spcBef>
              <a:spcAft>
                <a:spcPts val="0"/>
              </a:spcAft>
              <a:buClr>
                <a:schemeClr val="accent4"/>
              </a:buClr>
              <a:buSzPts val="1800"/>
              <a:buFont typeface="Noto Sans Symbols"/>
              <a:buChar char="▪"/>
            </a:pPr>
            <a:r>
              <a:rPr lang="en-US" sz="1800">
                <a:solidFill>
                  <a:srgbClr val="000000"/>
                </a:solidFill>
                <a:latin typeface="Times New Roman"/>
                <a:ea typeface="Times New Roman"/>
                <a:cs typeface="Times New Roman"/>
                <a:sym typeface="Times New Roman"/>
              </a:rPr>
              <a:t>So, basically the bikes numbers are depending on the various attributes (like weather conditions and the time of the year, and many more).</a:t>
            </a:r>
            <a:endParaRPr sz="1800">
              <a:solidFill>
                <a:srgbClr val="000000"/>
              </a:solidFill>
              <a:latin typeface="Times New Roman"/>
              <a:ea typeface="Times New Roman"/>
              <a:cs typeface="Times New Roman"/>
              <a:sym typeface="Times New Roman"/>
            </a:endParaRPr>
          </a:p>
          <a:p>
            <a:pPr indent="-152400" lvl="0" marL="266700" rtl="0" algn="l">
              <a:lnSpc>
                <a:spcPct val="90000"/>
              </a:lnSpc>
              <a:spcBef>
                <a:spcPts val="1000"/>
              </a:spcBef>
              <a:spcAft>
                <a:spcPts val="0"/>
              </a:spcAft>
              <a:buClr>
                <a:schemeClr val="accent4"/>
              </a:buClr>
              <a:buSzPts val="1800"/>
              <a:buFont typeface="Noto Sans Symbols"/>
              <a:buNone/>
            </a:pPr>
            <a:r>
              <a:t/>
            </a:r>
            <a:endParaRPr b="0" i="0" sz="1800" u="none" strike="noStrike">
              <a:solidFill>
                <a:srgbClr val="000000"/>
              </a:solidFill>
              <a:latin typeface="Times New Roman"/>
              <a:ea typeface="Times New Roman"/>
              <a:cs typeface="Times New Roman"/>
              <a:sym typeface="Times New Roman"/>
            </a:endParaRPr>
          </a:p>
          <a:p>
            <a:pPr indent="-266700" lvl="0" marL="266700" rtl="0" algn="l">
              <a:lnSpc>
                <a:spcPct val="90000"/>
              </a:lnSpc>
              <a:spcBef>
                <a:spcPts val="1000"/>
              </a:spcBef>
              <a:spcAft>
                <a:spcPts val="0"/>
              </a:spcAft>
              <a:buClr>
                <a:schemeClr val="accent4"/>
              </a:buClr>
              <a:buSzPts val="1800"/>
              <a:buFont typeface="Noto Sans Symbols"/>
              <a:buChar char="▪"/>
            </a:pPr>
            <a:r>
              <a:rPr b="0" i="0" lang="en-US" sz="1800" u="none" strike="noStrike">
                <a:solidFill>
                  <a:srgbClr val="000000"/>
                </a:solidFill>
                <a:latin typeface="Times New Roman"/>
                <a:ea typeface="Times New Roman"/>
                <a:cs typeface="Times New Roman"/>
                <a:sym typeface="Times New Roman"/>
              </a:rPr>
              <a:t>We are using this regression problem and applying the Random Forest regressor algorithm</a:t>
            </a:r>
            <a:endParaRPr sz="1600"/>
          </a:p>
        </p:txBody>
      </p:sp>
      <p:pic>
        <p:nvPicPr>
          <p:cNvPr id="149" name="Google Shape;149;p3"/>
          <p:cNvPicPr preferRelativeResize="0"/>
          <p:nvPr>
            <p:ph idx="2" type="pic"/>
          </p:nvPr>
        </p:nvPicPr>
        <p:blipFill rotWithShape="1">
          <a:blip r:embed="rId3">
            <a:alphaModFix/>
          </a:blip>
          <a:srcRect b="0" l="26888" r="26888" t="0"/>
          <a:stretch/>
        </p:blipFill>
        <p:spPr>
          <a:xfrm>
            <a:off x="7090227" y="786181"/>
            <a:ext cx="4441372" cy="53930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4"/>
          <p:cNvPicPr preferRelativeResize="0"/>
          <p:nvPr>
            <p:ph idx="2" type="pic"/>
          </p:nvPr>
        </p:nvPicPr>
        <p:blipFill rotWithShape="1">
          <a:blip r:embed="rId3">
            <a:alphaModFix/>
          </a:blip>
          <a:srcRect b="0" l="5133" r="25546" t="0"/>
          <a:stretch/>
        </p:blipFill>
        <p:spPr>
          <a:xfrm>
            <a:off x="433628" y="613214"/>
            <a:ext cx="5855754" cy="5631571"/>
          </a:xfrm>
          <a:prstGeom prst="rect">
            <a:avLst/>
          </a:prstGeom>
          <a:noFill/>
          <a:ln>
            <a:noFill/>
          </a:ln>
        </p:spPr>
      </p:pic>
      <p:sp>
        <p:nvSpPr>
          <p:cNvPr id="156" name="Google Shape;156;p4"/>
          <p:cNvSpPr/>
          <p:nvPr/>
        </p:nvSpPr>
        <p:spPr>
          <a:xfrm>
            <a:off x="7201160" y="345233"/>
            <a:ext cx="841829" cy="681134"/>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4"/>
          <p:cNvSpPr txBox="1"/>
          <p:nvPr>
            <p:ph type="title"/>
          </p:nvPr>
        </p:nvSpPr>
        <p:spPr>
          <a:xfrm>
            <a:off x="6503437" y="276175"/>
            <a:ext cx="4275137" cy="52241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Corbel"/>
              <a:buNone/>
            </a:pPr>
            <a:r>
              <a:rPr lang="en-US" sz="2800"/>
              <a:t>Attributes</a:t>
            </a:r>
            <a:endParaRPr/>
          </a:p>
        </p:txBody>
      </p:sp>
      <p:sp>
        <p:nvSpPr>
          <p:cNvPr id="158" name="Google Shape;158;p4"/>
          <p:cNvSpPr txBox="1"/>
          <p:nvPr>
            <p:ph idx="1" type="body"/>
          </p:nvPr>
        </p:nvSpPr>
        <p:spPr>
          <a:xfrm>
            <a:off x="6503437" y="798585"/>
            <a:ext cx="4972860" cy="5714182"/>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SzPts val="1600"/>
              <a:buChar char="▪"/>
            </a:pPr>
            <a:r>
              <a:rPr lang="en-US" sz="1600"/>
              <a:t>Date: year-month-day</a:t>
            </a:r>
            <a:endParaRPr/>
          </a:p>
          <a:p>
            <a:pPr indent="-266700" lvl="0" marL="266700" rtl="0" algn="l">
              <a:lnSpc>
                <a:spcPct val="100000"/>
              </a:lnSpc>
              <a:spcBef>
                <a:spcPts val="1000"/>
              </a:spcBef>
              <a:spcAft>
                <a:spcPts val="0"/>
              </a:spcAft>
              <a:buSzPts val="1600"/>
              <a:buChar char="▪"/>
            </a:pPr>
            <a:r>
              <a:rPr lang="en-US" sz="1600"/>
              <a:t>Rented Bike count - Count of bikes rented at each hour</a:t>
            </a:r>
            <a:endParaRPr/>
          </a:p>
          <a:p>
            <a:pPr indent="-266700" lvl="0" marL="266700" rtl="0" algn="l">
              <a:lnSpc>
                <a:spcPct val="100000"/>
              </a:lnSpc>
              <a:spcBef>
                <a:spcPts val="1000"/>
              </a:spcBef>
              <a:spcAft>
                <a:spcPts val="0"/>
              </a:spcAft>
              <a:buSzPts val="1600"/>
              <a:buChar char="▪"/>
            </a:pPr>
            <a:r>
              <a:rPr lang="en-US" sz="1600"/>
              <a:t>Hour - Hour of the day</a:t>
            </a:r>
            <a:endParaRPr/>
          </a:p>
          <a:p>
            <a:pPr indent="-266700" lvl="0" marL="266700" rtl="0" algn="l">
              <a:lnSpc>
                <a:spcPct val="100000"/>
              </a:lnSpc>
              <a:spcBef>
                <a:spcPts val="1000"/>
              </a:spcBef>
              <a:spcAft>
                <a:spcPts val="0"/>
              </a:spcAft>
              <a:buSzPts val="1600"/>
              <a:buChar char="▪"/>
            </a:pPr>
            <a:r>
              <a:rPr lang="en-US" sz="1600"/>
              <a:t>Temperature-Temperature in Celsius</a:t>
            </a:r>
            <a:endParaRPr/>
          </a:p>
          <a:p>
            <a:pPr indent="-266700" lvl="0" marL="266700" rtl="0" algn="l">
              <a:lnSpc>
                <a:spcPct val="100000"/>
              </a:lnSpc>
              <a:spcBef>
                <a:spcPts val="1000"/>
              </a:spcBef>
              <a:spcAft>
                <a:spcPts val="0"/>
              </a:spcAft>
              <a:buSzPts val="1600"/>
              <a:buChar char="▪"/>
            </a:pPr>
            <a:r>
              <a:rPr lang="en-US" sz="1600"/>
              <a:t>Humidity - %</a:t>
            </a:r>
            <a:endParaRPr/>
          </a:p>
          <a:p>
            <a:pPr indent="-266700" lvl="0" marL="266700" rtl="0" algn="l">
              <a:lnSpc>
                <a:spcPct val="100000"/>
              </a:lnSpc>
              <a:spcBef>
                <a:spcPts val="1000"/>
              </a:spcBef>
              <a:spcAft>
                <a:spcPts val="0"/>
              </a:spcAft>
              <a:buSzPts val="1600"/>
              <a:buChar char="▪"/>
            </a:pPr>
            <a:r>
              <a:rPr lang="en-US" sz="1600"/>
              <a:t>Windspeed - m/s</a:t>
            </a:r>
            <a:endParaRPr/>
          </a:p>
          <a:p>
            <a:pPr indent="-266700" lvl="0" marL="266700" rtl="0" algn="l">
              <a:lnSpc>
                <a:spcPct val="100000"/>
              </a:lnSpc>
              <a:spcBef>
                <a:spcPts val="1000"/>
              </a:spcBef>
              <a:spcAft>
                <a:spcPts val="0"/>
              </a:spcAft>
              <a:buSzPts val="1600"/>
              <a:buChar char="▪"/>
            </a:pPr>
            <a:r>
              <a:rPr lang="en-US" sz="1600"/>
              <a:t>Visibility - 10m</a:t>
            </a:r>
            <a:endParaRPr/>
          </a:p>
          <a:p>
            <a:pPr indent="-266700" lvl="0" marL="266700" rtl="0" algn="l">
              <a:lnSpc>
                <a:spcPct val="100000"/>
              </a:lnSpc>
              <a:spcBef>
                <a:spcPts val="1000"/>
              </a:spcBef>
              <a:spcAft>
                <a:spcPts val="0"/>
              </a:spcAft>
              <a:buSzPts val="1600"/>
              <a:buChar char="▪"/>
            </a:pPr>
            <a:r>
              <a:rPr lang="en-US" sz="1600"/>
              <a:t>Dew point temperature – Celsius</a:t>
            </a:r>
            <a:endParaRPr/>
          </a:p>
          <a:p>
            <a:pPr indent="-266700" lvl="0" marL="266700" rtl="0" algn="l">
              <a:lnSpc>
                <a:spcPct val="100000"/>
              </a:lnSpc>
              <a:spcBef>
                <a:spcPts val="1000"/>
              </a:spcBef>
              <a:spcAft>
                <a:spcPts val="0"/>
              </a:spcAft>
              <a:buSzPts val="1600"/>
              <a:buChar char="▪"/>
            </a:pPr>
            <a:r>
              <a:rPr lang="en-US" sz="1600"/>
              <a:t>Solar radiation - MJ/m2</a:t>
            </a:r>
            <a:endParaRPr/>
          </a:p>
          <a:p>
            <a:pPr indent="-266700" lvl="0" marL="266700" rtl="0" algn="l">
              <a:lnSpc>
                <a:spcPct val="100000"/>
              </a:lnSpc>
              <a:spcBef>
                <a:spcPts val="1000"/>
              </a:spcBef>
              <a:spcAft>
                <a:spcPts val="0"/>
              </a:spcAft>
              <a:buSzPts val="1600"/>
              <a:buChar char="▪"/>
            </a:pPr>
            <a:r>
              <a:rPr lang="en-US" sz="1600"/>
              <a:t>Rainfall – mm</a:t>
            </a:r>
            <a:endParaRPr/>
          </a:p>
          <a:p>
            <a:pPr indent="-266700" lvl="0" marL="266700" rtl="0" algn="l">
              <a:lnSpc>
                <a:spcPct val="100000"/>
              </a:lnSpc>
              <a:spcBef>
                <a:spcPts val="1000"/>
              </a:spcBef>
              <a:spcAft>
                <a:spcPts val="0"/>
              </a:spcAft>
              <a:buSzPts val="1600"/>
              <a:buChar char="▪"/>
            </a:pPr>
            <a:r>
              <a:rPr lang="en-US" sz="1600"/>
              <a:t>Snowfall – cm</a:t>
            </a:r>
            <a:endParaRPr/>
          </a:p>
          <a:p>
            <a:pPr indent="-266700" lvl="0" marL="266700" rtl="0" algn="l">
              <a:lnSpc>
                <a:spcPct val="100000"/>
              </a:lnSpc>
              <a:spcBef>
                <a:spcPts val="1000"/>
              </a:spcBef>
              <a:spcAft>
                <a:spcPts val="0"/>
              </a:spcAft>
              <a:buSzPts val="1600"/>
              <a:buChar char="▪"/>
            </a:pPr>
            <a:r>
              <a:rPr lang="en-US" sz="1600"/>
              <a:t>Seasons - Winter, Spring, Summer, Autumn</a:t>
            </a:r>
            <a:endParaRPr/>
          </a:p>
          <a:p>
            <a:pPr indent="-266700" lvl="0" marL="266700" rtl="0" algn="l">
              <a:lnSpc>
                <a:spcPct val="100000"/>
              </a:lnSpc>
              <a:spcBef>
                <a:spcPts val="1000"/>
              </a:spcBef>
              <a:spcAft>
                <a:spcPts val="0"/>
              </a:spcAft>
              <a:buSzPts val="1600"/>
              <a:buChar char="▪"/>
            </a:pPr>
            <a:r>
              <a:rPr lang="en-US" sz="1600"/>
              <a:t>Holiday - Holiday/No holiday</a:t>
            </a:r>
            <a:endParaRPr/>
          </a:p>
          <a:p>
            <a:pPr indent="-266700" lvl="0" marL="266700" rtl="0" algn="l">
              <a:lnSpc>
                <a:spcPct val="100000"/>
              </a:lnSpc>
              <a:spcBef>
                <a:spcPts val="1000"/>
              </a:spcBef>
              <a:spcAft>
                <a:spcPts val="0"/>
              </a:spcAft>
              <a:buSzPts val="1600"/>
              <a:buChar char="▪"/>
            </a:pPr>
            <a:r>
              <a:rPr lang="en-US" sz="1600"/>
              <a:t>Functional Day - NoFunc (Non Functional Hours), Fun(Functional hours)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3" name="Shape 163"/>
        <p:cNvGrpSpPr/>
        <p:nvPr/>
      </p:nvGrpSpPr>
      <p:grpSpPr>
        <a:xfrm>
          <a:off x="0" y="0"/>
          <a:ext cx="0" cy="0"/>
          <a:chOff x="0" y="0"/>
          <a:chExt cx="0" cy="0"/>
        </a:xfrm>
      </p:grpSpPr>
      <p:pic>
        <p:nvPicPr>
          <p:cNvPr descr="Blue glass building" id="164" name="Google Shape;164;p5"/>
          <p:cNvPicPr preferRelativeResize="0"/>
          <p:nvPr>
            <p:ph idx="2" type="pic"/>
          </p:nvPr>
        </p:nvPicPr>
        <p:blipFill rotWithShape="1">
          <a:blip r:embed="rId3">
            <a:alphaModFix amt="80000"/>
          </a:blip>
          <a:srcRect b="7802" l="0" r="0" t="7802"/>
          <a:stretch/>
        </p:blipFill>
        <p:spPr>
          <a:xfrm>
            <a:off x="0" y="9331"/>
            <a:ext cx="12192000" cy="6858000"/>
          </a:xfrm>
          <a:prstGeom prst="rect">
            <a:avLst/>
          </a:prstGeom>
          <a:blipFill rotWithShape="1">
            <a:blip r:embed="rId4">
              <a:alphaModFix amt="80000"/>
            </a:blip>
            <a:stretch>
              <a:fillRect b="0" l="0" r="0" t="0"/>
            </a:stretch>
          </a:blipFill>
          <a:ln>
            <a:noFill/>
          </a:ln>
        </p:spPr>
      </p:pic>
      <p:sp>
        <p:nvSpPr>
          <p:cNvPr id="165" name="Google Shape;165;p5"/>
          <p:cNvSpPr/>
          <p:nvPr/>
        </p:nvSpPr>
        <p:spPr>
          <a:xfrm>
            <a:off x="3166402" y="903484"/>
            <a:ext cx="5859196" cy="5051033"/>
          </a:xfrm>
          <a:prstGeom prst="hexagon">
            <a:avLst>
              <a:gd fmla="val 25000" name="adj"/>
              <a:gd fmla="val 115470" name="vf"/>
            </a:avLst>
          </a:prstGeom>
          <a:solidFill>
            <a:schemeClr val="accent5">
              <a:alpha val="40000"/>
            </a:schemeClr>
          </a:solidFill>
          <a:ln cap="flat" cmpd="sng" w="603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5"/>
          <p:cNvSpPr txBox="1"/>
          <p:nvPr>
            <p:ph type="title"/>
          </p:nvPr>
        </p:nvSpPr>
        <p:spPr>
          <a:xfrm>
            <a:off x="4096845" y="2629266"/>
            <a:ext cx="3924935" cy="169563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4800"/>
              <a:buFont typeface="Arial"/>
              <a:buNone/>
            </a:pPr>
            <a:r>
              <a:rPr lang="en-US">
                <a:latin typeface="Arial"/>
                <a:ea typeface="Arial"/>
                <a:cs typeface="Arial"/>
                <a:sym typeface="Arial"/>
              </a:rPr>
              <a:t>Random Forest Classifier</a:t>
            </a:r>
            <a:endParaRPr/>
          </a:p>
        </p:txBody>
      </p:sp>
      <p:sp>
        <p:nvSpPr>
          <p:cNvPr id="167" name="Google Shape;167;p5"/>
          <p:cNvSpPr txBox="1"/>
          <p:nvPr>
            <p:ph idx="1" type="body"/>
          </p:nvPr>
        </p:nvSpPr>
        <p:spPr>
          <a:xfrm>
            <a:off x="4096846" y="2011888"/>
            <a:ext cx="3924934" cy="49053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400"/>
              <a:buNone/>
            </a:pPr>
            <a:r>
              <a:rPr lang="en-US"/>
              <a:t>Algorithm Used</a:t>
            </a:r>
            <a:endParaRPr/>
          </a:p>
        </p:txBody>
      </p:sp>
      <p:sp>
        <p:nvSpPr>
          <p:cNvPr id="168" name="Google Shape;168;p5"/>
          <p:cNvSpPr txBox="1"/>
          <p:nvPr>
            <p:ph idx="3" type="body"/>
          </p:nvPr>
        </p:nvSpPr>
        <p:spPr>
          <a:xfrm>
            <a:off x="5775649" y="5417966"/>
            <a:ext cx="1895082" cy="399981"/>
          </a:xfrm>
          <a:prstGeom prst="rect">
            <a:avLst/>
          </a:prstGeom>
          <a:noFill/>
          <a:ln>
            <a:noFill/>
          </a:ln>
        </p:spPr>
        <p:txBody>
          <a:bodyPr anchorCtr="0" anchor="b" bIns="45700" lIns="91425" spcFirstLastPara="1" rIns="91425" wrap="square" tIns="45700">
            <a:noAutofit/>
          </a:bodyPr>
          <a:lstStyle/>
          <a:p>
            <a:pPr indent="-266700" lvl="0" marL="266700" rtl="0" algn="r">
              <a:lnSpc>
                <a:spcPct val="90000"/>
              </a:lnSpc>
              <a:spcBef>
                <a:spcPts val="0"/>
              </a:spcBef>
              <a:spcAft>
                <a:spcPts val="0"/>
              </a:spcAft>
              <a:buClr>
                <a:schemeClr val="lt1"/>
              </a:buClr>
              <a:buSzPts val="1600"/>
              <a:buNone/>
            </a:pPr>
            <a:r>
              <a:rPr lang="en-US"/>
              <a:t>Supervised Learning</a:t>
            </a:r>
            <a:endParaRPr/>
          </a:p>
        </p:txBody>
      </p:sp>
      <p:sp>
        <p:nvSpPr>
          <p:cNvPr id="169" name="Google Shape;169;p5"/>
          <p:cNvSpPr/>
          <p:nvPr/>
        </p:nvSpPr>
        <p:spPr>
          <a:xfrm>
            <a:off x="7974278" y="5753530"/>
            <a:ext cx="651613" cy="561736"/>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5"/>
          <p:cNvSpPr/>
          <p:nvPr/>
        </p:nvSpPr>
        <p:spPr>
          <a:xfrm>
            <a:off x="2255521" y="2751804"/>
            <a:ext cx="785546" cy="677196"/>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5"/>
          <p:cNvSpPr/>
          <p:nvPr/>
        </p:nvSpPr>
        <p:spPr>
          <a:xfrm>
            <a:off x="8021783" y="671564"/>
            <a:ext cx="392774" cy="33859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5"/>
          <p:cNvSpPr/>
          <p:nvPr/>
        </p:nvSpPr>
        <p:spPr>
          <a:xfrm>
            <a:off x="2035398" y="3344350"/>
            <a:ext cx="196388" cy="169300"/>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77" name="Shape 177"/>
        <p:cNvGrpSpPr/>
        <p:nvPr/>
      </p:nvGrpSpPr>
      <p:grpSpPr>
        <a:xfrm>
          <a:off x="0" y="0"/>
          <a:ext cx="0" cy="0"/>
          <a:chOff x="0" y="0"/>
          <a:chExt cx="0" cy="0"/>
        </a:xfrm>
      </p:grpSpPr>
      <p:sp>
        <p:nvSpPr>
          <p:cNvPr id="178" name="Google Shape;178;p6"/>
          <p:cNvSpPr txBox="1"/>
          <p:nvPr>
            <p:ph type="title"/>
          </p:nvPr>
        </p:nvSpPr>
        <p:spPr>
          <a:xfrm>
            <a:off x="519403" y="1194496"/>
            <a:ext cx="5435600"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orbel"/>
              <a:buNone/>
            </a:pPr>
            <a:r>
              <a:rPr lang="en-US" sz="4000"/>
              <a:t>What is the Algorithm?</a:t>
            </a:r>
            <a:endParaRPr/>
          </a:p>
        </p:txBody>
      </p:sp>
      <p:sp>
        <p:nvSpPr>
          <p:cNvPr id="179" name="Google Shape;179;p6"/>
          <p:cNvSpPr txBox="1"/>
          <p:nvPr>
            <p:ph idx="1" type="body"/>
          </p:nvPr>
        </p:nvSpPr>
        <p:spPr>
          <a:xfrm>
            <a:off x="519403" y="2025493"/>
            <a:ext cx="6143203" cy="4403299"/>
          </a:xfrm>
          <a:prstGeom prst="rect">
            <a:avLst/>
          </a:prstGeom>
          <a:noFill/>
          <a:ln>
            <a:noFill/>
          </a:ln>
        </p:spPr>
        <p:txBody>
          <a:bodyPr anchorCtr="0" anchor="t" bIns="45700" lIns="91425" spcFirstLastPara="1" rIns="91425" wrap="square" tIns="45700">
            <a:noAutofit/>
          </a:bodyPr>
          <a:lstStyle/>
          <a:p>
            <a:pPr indent="-266700" lvl="0" marL="266700" rtl="0" algn="l">
              <a:lnSpc>
                <a:spcPct val="150000"/>
              </a:lnSpc>
              <a:spcBef>
                <a:spcPts val="0"/>
              </a:spcBef>
              <a:spcAft>
                <a:spcPts val="0"/>
              </a:spcAft>
              <a:buClr>
                <a:schemeClr val="accent4"/>
              </a:buClr>
              <a:buSzPts val="2000"/>
              <a:buFont typeface="Noto Sans Symbols"/>
              <a:buChar char="▪"/>
            </a:pPr>
            <a:r>
              <a:rPr lang="en-US"/>
              <a:t>The Random Forest algorithm gives more accurate predictions than most other machine learning algorithms. Decision tree learning is one application. Decision trees create forests.</a:t>
            </a:r>
            <a:endParaRPr/>
          </a:p>
          <a:p>
            <a:pPr indent="-266700" lvl="0" marL="266700" rtl="0" algn="l">
              <a:lnSpc>
                <a:spcPct val="150000"/>
              </a:lnSpc>
              <a:spcBef>
                <a:spcPts val="1000"/>
              </a:spcBef>
              <a:spcAft>
                <a:spcPts val="0"/>
              </a:spcAft>
              <a:buClr>
                <a:schemeClr val="accent4"/>
              </a:buClr>
              <a:buSzPts val="2000"/>
              <a:buFont typeface="Noto Sans Symbols"/>
              <a:buChar char="▪"/>
            </a:pPr>
            <a:r>
              <a:rPr lang="en-US"/>
              <a:t>Each decision tree is an independent classifier. A forest of solid classifiers is created by using these decision trees. This forest of robust classifiers gives a better prediction than decision trees or other machine learning algorithms.</a:t>
            </a:r>
            <a:endParaRPr/>
          </a:p>
        </p:txBody>
      </p:sp>
      <p:pic>
        <p:nvPicPr>
          <p:cNvPr descr="close up of building" id="180" name="Google Shape;180;p6"/>
          <p:cNvPicPr preferRelativeResize="0"/>
          <p:nvPr>
            <p:ph idx="2" type="pic"/>
          </p:nvPr>
        </p:nvPicPr>
        <p:blipFill rotWithShape="1">
          <a:blip r:embed="rId3">
            <a:alphaModFix/>
          </a:blip>
          <a:srcRect b="0" l="15351" r="15350" t="0"/>
          <a:stretch/>
        </p:blipFill>
        <p:spPr>
          <a:xfrm>
            <a:off x="5871575" y="613214"/>
            <a:ext cx="5855754" cy="563157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660400" y="805213"/>
            <a:ext cx="6561494"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orbel"/>
              <a:buNone/>
            </a:pPr>
            <a:r>
              <a:rPr lang="en-US"/>
              <a:t>Algorithm’s</a:t>
            </a:r>
            <a:endParaRPr/>
          </a:p>
        </p:txBody>
      </p:sp>
      <p:pic>
        <p:nvPicPr>
          <p:cNvPr descr="close up of building" id="186" name="Google Shape;186;p7"/>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187" name="Google Shape;187;p7"/>
          <p:cNvSpPr txBox="1"/>
          <p:nvPr>
            <p:ph idx="1" type="body"/>
          </p:nvPr>
        </p:nvSpPr>
        <p:spPr>
          <a:xfrm>
            <a:off x="647700" y="2061363"/>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Advantages</a:t>
            </a:r>
            <a:endParaRPr/>
          </a:p>
        </p:txBody>
      </p:sp>
      <p:sp>
        <p:nvSpPr>
          <p:cNvPr id="188" name="Google Shape;188;p7"/>
          <p:cNvSpPr txBox="1"/>
          <p:nvPr>
            <p:ph idx="2" type="body"/>
          </p:nvPr>
        </p:nvSpPr>
        <p:spPr>
          <a:xfrm>
            <a:off x="660400" y="2673522"/>
            <a:ext cx="5067300" cy="29352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Most non-linear classifiers are not as accurate as of the random forest algorithm.</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It uses multiple decision trees to come to its conclusion, so it is also highly robust.</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A random forest classifier does not have overfitting problems since it takes the</a:t>
            </a:r>
            <a:br>
              <a:rPr lang="en-US"/>
            </a:br>
            <a:r>
              <a:rPr lang="en-US"/>
              <a:t>average of all predictions, cancelling out biases and thus fixing the problem.</a:t>
            </a:r>
            <a:endParaRPr/>
          </a:p>
        </p:txBody>
      </p:sp>
      <p:sp>
        <p:nvSpPr>
          <p:cNvPr id="189" name="Google Shape;189;p7"/>
          <p:cNvSpPr txBox="1"/>
          <p:nvPr>
            <p:ph idx="3" type="body"/>
          </p:nvPr>
        </p:nvSpPr>
        <p:spPr>
          <a:xfrm>
            <a:off x="6451600" y="2061363"/>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Disadvantages</a:t>
            </a:r>
            <a:endParaRPr/>
          </a:p>
        </p:txBody>
      </p:sp>
      <p:sp>
        <p:nvSpPr>
          <p:cNvPr id="190" name="Google Shape;190;p7"/>
          <p:cNvSpPr txBox="1"/>
          <p:nvPr>
            <p:ph idx="4" type="body"/>
          </p:nvPr>
        </p:nvSpPr>
        <p:spPr>
          <a:xfrm>
            <a:off x="6464300" y="2677067"/>
            <a:ext cx="5067300" cy="3163896"/>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Using multiple decision trees to make predictions, this algorithm is significantly</a:t>
            </a:r>
            <a:br>
              <a:rPr lang="en-US"/>
            </a:br>
            <a:r>
              <a:rPr lang="en-US"/>
              <a:t>slower than other classification algorithms.</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For a random forest classifier to predict, every tree in the forest must predict the</a:t>
            </a:r>
            <a:br>
              <a:rPr lang="en-US"/>
            </a:br>
            <a:r>
              <a:rPr lang="en-US"/>
              <a:t>same input and vote on it. This can take a long time.</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The slow pace of random forest classifiers makes them unsuitable for real-time</a:t>
            </a:r>
            <a:br>
              <a:rPr lang="en-US"/>
            </a:br>
            <a:r>
              <a:rPr lang="en-US"/>
              <a:t>prediction.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ph type="title"/>
          </p:nvPr>
        </p:nvSpPr>
        <p:spPr>
          <a:xfrm>
            <a:off x="838200" y="635000"/>
            <a:ext cx="10515600" cy="70011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4800"/>
              <a:buFont typeface="Corbel"/>
              <a:buNone/>
            </a:pPr>
            <a:r>
              <a:rPr lang="en-US"/>
              <a:t>Accuracy</a:t>
            </a:r>
            <a:endParaRPr/>
          </a:p>
        </p:txBody>
      </p:sp>
      <p:graphicFrame>
        <p:nvGraphicFramePr>
          <p:cNvPr descr="chart" id="196" name="Google Shape;196;p8"/>
          <p:cNvGraphicFramePr/>
          <p:nvPr/>
        </p:nvGraphicFramePr>
        <p:xfrm>
          <a:off x="784225" y="1335115"/>
          <a:ext cx="10623550" cy="4708931"/>
        </p:xfrm>
        <a:graphic>
          <a:graphicData uri="http://schemas.openxmlformats.org/drawingml/2006/chart">
            <c:chart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orbel"/>
              <a:buNone/>
            </a:pPr>
            <a:r>
              <a:rPr lang="en-US" sz="4000"/>
              <a:t>Why Random Forest?</a:t>
            </a:r>
            <a:endParaRPr/>
          </a:p>
        </p:txBody>
      </p:sp>
      <p:sp>
        <p:nvSpPr>
          <p:cNvPr id="203" name="Google Shape;203;p9"/>
          <p:cNvSpPr txBox="1"/>
          <p:nvPr>
            <p:ph idx="1" type="body"/>
          </p:nvPr>
        </p:nvSpPr>
        <p:spPr>
          <a:xfrm>
            <a:off x="660400" y="2399264"/>
            <a:ext cx="4275138" cy="3560763"/>
          </a:xfrm>
          <a:prstGeom prst="rect">
            <a:avLst/>
          </a:prstGeom>
          <a:noFill/>
          <a:ln>
            <a:noFill/>
          </a:ln>
        </p:spPr>
        <p:txBody>
          <a:bodyPr anchorCtr="0" anchor="t" bIns="45700" lIns="91425" spcFirstLastPara="1" rIns="91425" wrap="square" tIns="45700">
            <a:noAutofit/>
          </a:bodyPr>
          <a:lstStyle/>
          <a:p>
            <a:pPr indent="-266700" lvl="0" marL="266700" rtl="0" algn="l">
              <a:lnSpc>
                <a:spcPct val="150000"/>
              </a:lnSpc>
              <a:spcBef>
                <a:spcPts val="0"/>
              </a:spcBef>
              <a:spcAft>
                <a:spcPts val="0"/>
              </a:spcAft>
              <a:buClr>
                <a:schemeClr val="accent4"/>
              </a:buClr>
              <a:buSzPts val="2000"/>
              <a:buFont typeface="Noto Sans Symbols"/>
              <a:buChar char="▪"/>
            </a:pPr>
            <a:r>
              <a:rPr lang="en-US"/>
              <a:t>Because of its simplicity and excellent accuracy, random forest is one of the most used algorithms for regression problems (i.e., predicting continuous outcomes).</a:t>
            </a:r>
            <a:endParaRPr/>
          </a:p>
        </p:txBody>
      </p:sp>
      <p:pic>
        <p:nvPicPr>
          <p:cNvPr id="204" name="Google Shape;204;p9"/>
          <p:cNvPicPr preferRelativeResize="0"/>
          <p:nvPr>
            <p:ph idx="2" type="pic"/>
          </p:nvPr>
        </p:nvPicPr>
        <p:blipFill rotWithShape="1">
          <a:blip r:embed="rId3">
            <a:alphaModFix/>
          </a:blip>
          <a:srcRect b="6882" l="-3195" r="13642" t="-6882"/>
          <a:stretch/>
        </p:blipFill>
        <p:spPr>
          <a:xfrm>
            <a:off x="5733416" y="624239"/>
            <a:ext cx="5855754" cy="563157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close up of building" id="209" name="Google Shape;209;p10"/>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10" name="Google Shape;210;p10"/>
          <p:cNvSpPr txBox="1"/>
          <p:nvPr>
            <p:ph idx="1" type="body"/>
          </p:nvPr>
        </p:nvSpPr>
        <p:spPr>
          <a:xfrm>
            <a:off x="731675" y="1818974"/>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Extremely great precision</a:t>
            </a:r>
            <a:endParaRPr/>
          </a:p>
        </p:txBody>
      </p:sp>
      <p:sp>
        <p:nvSpPr>
          <p:cNvPr id="211" name="Google Shape;211;p10"/>
          <p:cNvSpPr txBox="1"/>
          <p:nvPr>
            <p:ph idx="2" type="body"/>
          </p:nvPr>
        </p:nvSpPr>
        <p:spPr>
          <a:xfrm>
            <a:off x="1028441" y="2401960"/>
            <a:ext cx="10135118" cy="11395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Random Forest regression yields extraordinarily high accuracies thanks to its 'wisdom of the crowds' technique. </a:t>
            </a:r>
            <a:endParaRPr/>
          </a:p>
        </p:txBody>
      </p:sp>
      <p:sp>
        <p:nvSpPr>
          <p:cNvPr id="212" name="Google Shape;212;p10"/>
          <p:cNvSpPr txBox="1"/>
          <p:nvPr/>
        </p:nvSpPr>
        <p:spPr>
          <a:xfrm>
            <a:off x="731675" y="3686384"/>
            <a:ext cx="5080000"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400"/>
              <a:buFont typeface="Arial"/>
              <a:buNone/>
            </a:pPr>
            <a:r>
              <a:rPr b="1" lang="en-US" sz="2400">
                <a:solidFill>
                  <a:schemeClr val="dk1"/>
                </a:solidFill>
                <a:latin typeface="Corbel"/>
                <a:ea typeface="Corbel"/>
                <a:cs typeface="Corbel"/>
                <a:sym typeface="Corbel"/>
              </a:rPr>
              <a:t>Simple to work with</a:t>
            </a:r>
            <a:endParaRPr b="1" sz="2400">
              <a:solidFill>
                <a:schemeClr val="dk1"/>
              </a:solidFill>
              <a:latin typeface="Corbel"/>
              <a:ea typeface="Corbel"/>
              <a:cs typeface="Corbel"/>
              <a:sym typeface="Corbel"/>
            </a:endParaRPr>
          </a:p>
        </p:txBody>
      </p:sp>
      <p:sp>
        <p:nvSpPr>
          <p:cNvPr id="213" name="Google Shape;213;p10"/>
          <p:cNvSpPr txBox="1"/>
          <p:nvPr/>
        </p:nvSpPr>
        <p:spPr>
          <a:xfrm>
            <a:off x="1028441" y="4269370"/>
            <a:ext cx="10135118" cy="1139588"/>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accent4"/>
              </a:buClr>
              <a:buSzPts val="2000"/>
              <a:buFont typeface="Noto Sans Symbols"/>
              <a:buChar char="▪"/>
            </a:pPr>
            <a:r>
              <a:rPr lang="en-US" sz="2000">
                <a:solidFill>
                  <a:schemeClr val="dk1"/>
                </a:solidFill>
                <a:latin typeface="Calibri"/>
                <a:ea typeface="Calibri"/>
                <a:cs typeface="Calibri"/>
                <a:sym typeface="Calibri"/>
              </a:rPr>
              <a:t>Because random forest can deal with both category and numerical input variables, we need to spend less time encoding or classifying data one at a time. It is unaffected by missing data and can deal with outliers to some extent. Overall, it saves you time that would otherwise be spent cleaning data, which is typically the most time-consuming part of any data science process.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close up of building" id="218" name="Google Shape;218;p11"/>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19" name="Google Shape;219;p11"/>
          <p:cNvSpPr txBox="1"/>
          <p:nvPr>
            <p:ph idx="1" type="body"/>
          </p:nvPr>
        </p:nvSpPr>
        <p:spPr>
          <a:xfrm>
            <a:off x="731675" y="1818974"/>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Interpretation</a:t>
            </a:r>
            <a:endParaRPr/>
          </a:p>
        </p:txBody>
      </p:sp>
      <p:sp>
        <p:nvSpPr>
          <p:cNvPr id="220" name="Google Shape;220;p11"/>
          <p:cNvSpPr txBox="1"/>
          <p:nvPr>
            <p:ph idx="2" type="body"/>
          </p:nvPr>
        </p:nvSpPr>
        <p:spPr>
          <a:xfrm>
            <a:off x="1028441" y="2401960"/>
            <a:ext cx="10135118" cy="11395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Random forests have been assessed to output the decision trees that were utilized in the final decision; however, it is not as clearly understandable as its fundamental algorithm decision tree regression. The separate trees may be utilized to figure out what the key decision nodes were, as well as to raise inquiries about how the final estimate came to be.</a:t>
            </a:r>
            <a:endParaRPr/>
          </a:p>
          <a:p>
            <a:pPr indent="-139700" lvl="0" marL="266700" rtl="0" algn="l">
              <a:lnSpc>
                <a:spcPct val="90000"/>
              </a:lnSpc>
              <a:spcBef>
                <a:spcPts val="1000"/>
              </a:spcBef>
              <a:spcAft>
                <a:spcPts val="0"/>
              </a:spcAft>
              <a:buClr>
                <a:schemeClr val="accent4"/>
              </a:buClr>
              <a:buSzPts val="2000"/>
              <a:buFont typeface="Noto Sans Symbols"/>
              <a:buNone/>
            </a:pPr>
            <a:r>
              <a:t/>
            </a:r>
            <a:endParaRPr/>
          </a:p>
        </p:txBody>
      </p:sp>
      <p:sp>
        <p:nvSpPr>
          <p:cNvPr id="221" name="Google Shape;221;p11"/>
          <p:cNvSpPr txBox="1"/>
          <p:nvPr/>
        </p:nvSpPr>
        <p:spPr>
          <a:xfrm>
            <a:off x="731675" y="3743196"/>
            <a:ext cx="5080000"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400"/>
              <a:buFont typeface="Arial"/>
              <a:buNone/>
            </a:pPr>
            <a:r>
              <a:rPr b="1" lang="en-US" sz="2400">
                <a:solidFill>
                  <a:schemeClr val="dk1"/>
                </a:solidFill>
                <a:latin typeface="Corbel"/>
                <a:ea typeface="Corbel"/>
                <a:cs typeface="Corbel"/>
                <a:sym typeface="Corbel"/>
              </a:rPr>
              <a:t>Scales well</a:t>
            </a:r>
            <a:endParaRPr b="1" sz="2400">
              <a:solidFill>
                <a:schemeClr val="dk1"/>
              </a:solidFill>
              <a:latin typeface="Corbel"/>
              <a:ea typeface="Corbel"/>
              <a:cs typeface="Corbel"/>
              <a:sym typeface="Corbel"/>
            </a:endParaRPr>
          </a:p>
        </p:txBody>
      </p:sp>
      <p:sp>
        <p:nvSpPr>
          <p:cNvPr id="222" name="Google Shape;222;p11"/>
          <p:cNvSpPr txBox="1"/>
          <p:nvPr/>
        </p:nvSpPr>
        <p:spPr>
          <a:xfrm>
            <a:off x="1028441" y="4382995"/>
            <a:ext cx="10135118" cy="1139588"/>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accent4"/>
              </a:buClr>
              <a:buSzPts val="2000"/>
              <a:buFont typeface="Noto Sans Symbols"/>
              <a:buChar char="▪"/>
            </a:pPr>
            <a:r>
              <a:rPr lang="en-US" sz="2000">
                <a:solidFill>
                  <a:schemeClr val="dk1"/>
                </a:solidFill>
                <a:latin typeface="Calibri"/>
                <a:ea typeface="Calibri"/>
                <a:cs typeface="Calibri"/>
                <a:sym typeface="Calibri"/>
              </a:rPr>
              <a:t>Computationally, the algorithm scales well when new features or samples are added to the dataset. </a:t>
            </a:r>
            <a:endParaRPr/>
          </a:p>
          <a:p>
            <a:pPr indent="-139700" lvl="0" marL="266700" marR="0" rtl="0" algn="l">
              <a:lnSpc>
                <a:spcPct val="90000"/>
              </a:lnSpc>
              <a:spcBef>
                <a:spcPts val="1000"/>
              </a:spcBef>
              <a:spcAft>
                <a:spcPts val="0"/>
              </a:spcAft>
              <a:buClr>
                <a:schemeClr val="accent4"/>
              </a:buClr>
              <a:buSzPts val="2000"/>
              <a:buFont typeface="Noto Sans Symbols"/>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close up of building" id="227" name="Google Shape;227;p12"/>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28" name="Google Shape;228;p12"/>
          <p:cNvSpPr txBox="1"/>
          <p:nvPr>
            <p:ph idx="1" type="body"/>
          </p:nvPr>
        </p:nvSpPr>
        <p:spPr>
          <a:xfrm>
            <a:off x="731675" y="1643911"/>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000"/>
              <a:buNone/>
            </a:pPr>
            <a:r>
              <a:rPr lang="en-US" sz="2000"/>
              <a:t>Variable Exploring and Cleaning</a:t>
            </a:r>
            <a:endParaRPr/>
          </a:p>
        </p:txBody>
      </p:sp>
      <p:sp>
        <p:nvSpPr>
          <p:cNvPr id="229" name="Google Shape;229;p12"/>
          <p:cNvSpPr txBox="1"/>
          <p:nvPr>
            <p:ph idx="2" type="body"/>
          </p:nvPr>
        </p:nvSpPr>
        <p:spPr>
          <a:xfrm>
            <a:off x="1028441" y="2401960"/>
            <a:ext cx="10135118" cy="237398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In the Seasons column, there are four season categories i.e., Winter, Spring, Summer, and Autumn. We assign category codes to convert this string data into numerical data for fitting into the regressor.</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In the same way, we have converted the columns of ‘Functional Day’ and ‘Holiday’ attributes to numerical data from categories in string form.</a:t>
            </a:r>
            <a:br>
              <a:rPr lang="en-US"/>
            </a:br>
            <a:endParaRPr/>
          </a:p>
          <a:p>
            <a:pPr indent="-266700" lvl="0" marL="266700" rtl="0" algn="l">
              <a:lnSpc>
                <a:spcPct val="90000"/>
              </a:lnSpc>
              <a:spcBef>
                <a:spcPts val="0"/>
              </a:spcBef>
              <a:spcAft>
                <a:spcPts val="0"/>
              </a:spcAft>
              <a:buSzPts val="2000"/>
              <a:buChar char="▪"/>
            </a:pPr>
            <a:r>
              <a:rPr lang="en-US"/>
              <a:t>The ‘date’ column would not be a suitable parameter for use in the regressor algorithm. Therefore, we dropped the  ‘date’ attribute.</a:t>
            </a:r>
            <a:endParaRPr/>
          </a:p>
          <a:p>
            <a:pPr indent="-139700" lvl="0" marL="266700" rtl="0" algn="l">
              <a:lnSpc>
                <a:spcPct val="90000"/>
              </a:lnSpc>
              <a:spcBef>
                <a:spcPts val="1800"/>
              </a:spcBef>
              <a:spcAft>
                <a:spcPts val="0"/>
              </a:spcAft>
              <a:buClr>
                <a:schemeClr val="accent4"/>
              </a:buClr>
              <a:buSzPts val="2000"/>
              <a:buFont typeface="Noto Sans Symbols"/>
              <a:buNone/>
            </a:pPr>
            <a:r>
              <a:t/>
            </a:r>
            <a:endParaRPr/>
          </a:p>
          <a:p>
            <a:pPr indent="-139700" lvl="0" marL="266700" rtl="0" algn="l">
              <a:lnSpc>
                <a:spcPct val="90000"/>
              </a:lnSpc>
              <a:spcBef>
                <a:spcPts val="1000"/>
              </a:spcBef>
              <a:spcAft>
                <a:spcPts val="0"/>
              </a:spcAft>
              <a:buClr>
                <a:schemeClr val="accent4"/>
              </a:buClr>
              <a:buSzPts val="2000"/>
              <a:buFont typeface="Noto Sans Symbols"/>
              <a:buNone/>
            </a:pPr>
            <a:r>
              <a:t/>
            </a:r>
            <a:endParaRPr/>
          </a:p>
        </p:txBody>
      </p:sp>
      <p:sp>
        <p:nvSpPr>
          <p:cNvPr id="230" name="Google Shape;230;p12"/>
          <p:cNvSpPr txBox="1"/>
          <p:nvPr/>
        </p:nvSpPr>
        <p:spPr>
          <a:xfrm>
            <a:off x="1028441" y="4995014"/>
            <a:ext cx="10135118" cy="789966"/>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accent4"/>
              </a:buClr>
              <a:buSzPts val="2000"/>
              <a:buFont typeface="Noto Sans Symbols"/>
              <a:buChar char="▪"/>
            </a:pPr>
            <a:r>
              <a:rPr lang="en-US" sz="2000">
                <a:solidFill>
                  <a:schemeClr val="dk1"/>
                </a:solidFill>
                <a:latin typeface="Calibri"/>
                <a:ea typeface="Calibri"/>
                <a:cs typeface="Calibri"/>
                <a:sym typeface="Calibri"/>
              </a:rPr>
              <a:t>Checking for null values and duplicate entries in the dataset. But we haven’t found any null values or duplicates entries in the data.</a:t>
            </a:r>
            <a:endParaRPr/>
          </a:p>
        </p:txBody>
      </p:sp>
      <p:sp>
        <p:nvSpPr>
          <p:cNvPr id="231" name="Google Shape;231;p12"/>
          <p:cNvSpPr txBox="1"/>
          <p:nvPr/>
        </p:nvSpPr>
        <p:spPr>
          <a:xfrm>
            <a:off x="731675" y="1004113"/>
            <a:ext cx="3448439"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800"/>
              <a:buFont typeface="Arial"/>
              <a:buNone/>
            </a:pPr>
            <a:r>
              <a:rPr b="1" lang="en-US" sz="2800">
                <a:solidFill>
                  <a:schemeClr val="dk1"/>
                </a:solidFill>
                <a:latin typeface="Corbel"/>
                <a:ea typeface="Corbel"/>
                <a:cs typeface="Corbel"/>
                <a:sym typeface="Corbel"/>
              </a:rPr>
              <a:t>Data Pre-processing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close up of building" id="236" name="Google Shape;236;p13"/>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37" name="Google Shape;237;p13"/>
          <p:cNvSpPr txBox="1"/>
          <p:nvPr>
            <p:ph idx="2" type="body"/>
          </p:nvPr>
        </p:nvSpPr>
        <p:spPr>
          <a:xfrm>
            <a:off x="1028441" y="1655511"/>
            <a:ext cx="10135118" cy="624669"/>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SzPts val="2000"/>
              <a:buChar char="▪"/>
            </a:pPr>
            <a:r>
              <a:rPr lang="en-US"/>
              <a:t>Using 85 % data for training and 15 % for testing.</a:t>
            </a:r>
            <a:endParaRPr/>
          </a:p>
        </p:txBody>
      </p:sp>
      <p:sp>
        <p:nvSpPr>
          <p:cNvPr id="238" name="Google Shape;238;p13"/>
          <p:cNvSpPr txBox="1"/>
          <p:nvPr/>
        </p:nvSpPr>
        <p:spPr>
          <a:xfrm>
            <a:off x="731675" y="1004113"/>
            <a:ext cx="6779468"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800"/>
              <a:buFont typeface="Arial"/>
              <a:buNone/>
            </a:pPr>
            <a:r>
              <a:rPr b="1" lang="en-US" sz="2800">
                <a:solidFill>
                  <a:schemeClr val="dk1"/>
                </a:solidFill>
                <a:latin typeface="Corbel"/>
                <a:ea typeface="Corbel"/>
                <a:cs typeface="Corbel"/>
                <a:sym typeface="Corbel"/>
              </a:rPr>
              <a:t>Splitting the data for training and testing</a:t>
            </a:r>
            <a:endParaRPr b="1" sz="2800">
              <a:solidFill>
                <a:schemeClr val="dk1"/>
              </a:solidFill>
              <a:latin typeface="Corbel"/>
              <a:ea typeface="Corbel"/>
              <a:cs typeface="Corbel"/>
              <a:sym typeface="Corbel"/>
            </a:endParaRPr>
          </a:p>
        </p:txBody>
      </p:sp>
      <p:graphicFrame>
        <p:nvGraphicFramePr>
          <p:cNvPr id="239" name="Google Shape;239;p13"/>
          <p:cNvGraphicFramePr/>
          <p:nvPr/>
        </p:nvGraphicFramePr>
        <p:xfrm>
          <a:off x="3129384" y="2280180"/>
          <a:ext cx="5933232" cy="3665721"/>
        </p:xfrm>
        <a:graphic>
          <a:graphicData uri="http://schemas.openxmlformats.org/drawingml/2006/chart">
            <c:chart r:id="rId4"/>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close up of building" id="244" name="Google Shape;244;p14"/>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45" name="Google Shape;245;p14"/>
          <p:cNvSpPr txBox="1"/>
          <p:nvPr>
            <p:ph idx="2" type="body"/>
          </p:nvPr>
        </p:nvSpPr>
        <p:spPr>
          <a:xfrm>
            <a:off x="1190690" y="1963810"/>
            <a:ext cx="9810620" cy="121831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Using Random Forest Regressor from sklearn ensemble library in Python. Setting the number of estimators to 101.  </a:t>
            </a:r>
            <a:r>
              <a:rPr b="1" lang="en-US"/>
              <a:t>n_estimators</a:t>
            </a:r>
            <a:r>
              <a:rPr lang="en-US"/>
              <a:t> address the number of trees in the woodland. Generally, the higher the number of trees the better to become familiar with the information. </a:t>
            </a:r>
            <a:endParaRPr/>
          </a:p>
          <a:p>
            <a:pPr indent="-139700" lvl="0" marL="266700" rtl="0" algn="l">
              <a:lnSpc>
                <a:spcPct val="90000"/>
              </a:lnSpc>
              <a:spcBef>
                <a:spcPts val="1000"/>
              </a:spcBef>
              <a:spcAft>
                <a:spcPts val="0"/>
              </a:spcAft>
              <a:buClr>
                <a:schemeClr val="accent4"/>
              </a:buClr>
              <a:buSzPts val="2000"/>
              <a:buFont typeface="Noto Sans Symbols"/>
              <a:buNone/>
            </a:pPr>
            <a:r>
              <a:t/>
            </a:r>
            <a:endParaRPr/>
          </a:p>
        </p:txBody>
      </p:sp>
      <p:sp>
        <p:nvSpPr>
          <p:cNvPr id="246" name="Google Shape;246;p14"/>
          <p:cNvSpPr txBox="1"/>
          <p:nvPr/>
        </p:nvSpPr>
        <p:spPr>
          <a:xfrm>
            <a:off x="498409" y="1341438"/>
            <a:ext cx="6294276"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800"/>
              <a:buFont typeface="Arial"/>
              <a:buNone/>
            </a:pPr>
            <a:r>
              <a:rPr b="1" lang="en-US" sz="2800">
                <a:solidFill>
                  <a:schemeClr val="dk1"/>
                </a:solidFill>
                <a:latin typeface="Corbel"/>
                <a:ea typeface="Corbel"/>
                <a:cs typeface="Corbel"/>
                <a:sym typeface="Corbel"/>
              </a:rPr>
              <a:t>Applying the Random Forest Algorithm</a:t>
            </a:r>
            <a:endParaRPr/>
          </a:p>
        </p:txBody>
      </p:sp>
      <p:pic>
        <p:nvPicPr>
          <p:cNvPr id="247" name="Google Shape;247;p14"/>
          <p:cNvPicPr preferRelativeResize="0"/>
          <p:nvPr/>
        </p:nvPicPr>
        <p:blipFill rotWithShape="1">
          <a:blip r:embed="rId4">
            <a:alphaModFix/>
          </a:blip>
          <a:srcRect b="0" l="0" r="0" t="5607"/>
          <a:stretch/>
        </p:blipFill>
        <p:spPr>
          <a:xfrm>
            <a:off x="2853553" y="3585425"/>
            <a:ext cx="6883784" cy="2633680"/>
          </a:xfrm>
          <a:prstGeom prst="rect">
            <a:avLst/>
          </a:prstGeom>
          <a:noFill/>
          <a:ln>
            <a:noFill/>
          </a:ln>
        </p:spPr>
      </p:pic>
      <p:sp>
        <p:nvSpPr>
          <p:cNvPr id="248" name="Google Shape;248;p14"/>
          <p:cNvSpPr txBox="1"/>
          <p:nvPr/>
        </p:nvSpPr>
        <p:spPr>
          <a:xfrm>
            <a:off x="498409" y="3366350"/>
            <a:ext cx="6294276"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800"/>
              <a:buFont typeface="Arial"/>
              <a:buNone/>
            </a:pPr>
            <a:r>
              <a:rPr b="1" lang="en-US" sz="2800">
                <a:solidFill>
                  <a:schemeClr val="dk1"/>
                </a:solidFill>
                <a:latin typeface="Corbel"/>
                <a:ea typeface="Corbel"/>
                <a:cs typeface="Corbel"/>
                <a:sym typeface="Corbel"/>
              </a:rPr>
              <a:t>Output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close up of building" id="253" name="Google Shape;253;p15"/>
          <p:cNvPicPr preferRelativeResize="0"/>
          <p:nvPr>
            <p:ph idx="5" type="pic"/>
          </p:nvPr>
        </p:nvPicPr>
        <p:blipFill rotWithShape="1">
          <a:blip r:embed="rId3">
            <a:alphaModFix/>
          </a:blip>
          <a:srcRect b="10082" l="0" r="0" t="10082"/>
          <a:stretch/>
        </p:blipFill>
        <p:spPr>
          <a:xfrm>
            <a:off x="9261475" y="0"/>
            <a:ext cx="2930525" cy="1560513"/>
          </a:xfrm>
          <a:prstGeom prst="rect">
            <a:avLst/>
          </a:prstGeom>
          <a:noFill/>
          <a:ln>
            <a:noFill/>
          </a:ln>
        </p:spPr>
      </p:pic>
      <p:sp>
        <p:nvSpPr>
          <p:cNvPr id="254" name="Google Shape;254;p15"/>
          <p:cNvSpPr txBox="1"/>
          <p:nvPr>
            <p:ph idx="2" type="body"/>
          </p:nvPr>
        </p:nvSpPr>
        <p:spPr>
          <a:xfrm>
            <a:off x="1190690" y="2047228"/>
            <a:ext cx="9810620" cy="1757272"/>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accent4"/>
              </a:buClr>
              <a:buSzPts val="2000"/>
              <a:buFont typeface="Noto Sans Symbols"/>
              <a:buChar char="▪"/>
            </a:pPr>
            <a:r>
              <a:rPr lang="en-US"/>
              <a:t>We observe that the predicted values from the trained model aren’t exactly very close to the actual values, with all the predicted values having an average difference of about 100 cycles to the actual numbers.</a:t>
            </a:r>
            <a:endParaRPr/>
          </a:p>
          <a:p>
            <a:pPr indent="-266700" lvl="0" marL="266700" rtl="0" algn="l">
              <a:lnSpc>
                <a:spcPct val="90000"/>
              </a:lnSpc>
              <a:spcBef>
                <a:spcPts val="1000"/>
              </a:spcBef>
              <a:spcAft>
                <a:spcPts val="0"/>
              </a:spcAft>
              <a:buClr>
                <a:schemeClr val="accent4"/>
              </a:buClr>
              <a:buSzPts val="2000"/>
              <a:buFont typeface="Noto Sans Symbols"/>
              <a:buChar char="▪"/>
            </a:pPr>
            <a:r>
              <a:rPr lang="en-US"/>
              <a:t>Evaluating the trained model of Random forest regressor:</a:t>
            </a:r>
            <a:endParaRPr/>
          </a:p>
          <a:p>
            <a:pPr indent="-139700" lvl="0" marL="266700" rtl="0" algn="l">
              <a:lnSpc>
                <a:spcPct val="90000"/>
              </a:lnSpc>
              <a:spcBef>
                <a:spcPts val="1000"/>
              </a:spcBef>
              <a:spcAft>
                <a:spcPts val="0"/>
              </a:spcAft>
              <a:buClr>
                <a:schemeClr val="accent4"/>
              </a:buClr>
              <a:buSzPts val="2000"/>
              <a:buFont typeface="Noto Sans Symbols"/>
              <a:buNone/>
            </a:pPr>
            <a:r>
              <a:t/>
            </a:r>
            <a:endParaRPr/>
          </a:p>
        </p:txBody>
      </p:sp>
      <p:sp>
        <p:nvSpPr>
          <p:cNvPr id="255" name="Google Shape;255;p15"/>
          <p:cNvSpPr txBox="1"/>
          <p:nvPr/>
        </p:nvSpPr>
        <p:spPr>
          <a:xfrm>
            <a:off x="582385" y="1423188"/>
            <a:ext cx="6294276" cy="438150"/>
          </a:xfrm>
          <a:prstGeom prst="rect">
            <a:avLst/>
          </a:prstGeom>
          <a:noFill/>
          <a:ln>
            <a:noFill/>
          </a:ln>
        </p:spPr>
        <p:txBody>
          <a:bodyPr anchorCtr="0" anchor="t" bIns="45700" lIns="91425" spcFirstLastPara="1" rIns="91425" wrap="square" tIns="45700">
            <a:noAutofit/>
          </a:bodyPr>
          <a:lstStyle/>
          <a:p>
            <a:pPr indent="-266700" lvl="0" marL="266700" marR="0" rtl="0" algn="l">
              <a:lnSpc>
                <a:spcPct val="90000"/>
              </a:lnSpc>
              <a:spcBef>
                <a:spcPts val="0"/>
              </a:spcBef>
              <a:spcAft>
                <a:spcPts val="0"/>
              </a:spcAft>
              <a:buClr>
                <a:schemeClr val="dk1"/>
              </a:buClr>
              <a:buSzPts val="2800"/>
              <a:buFont typeface="Arial"/>
              <a:buNone/>
            </a:pPr>
            <a:r>
              <a:rPr b="1" lang="en-US" sz="2800">
                <a:solidFill>
                  <a:schemeClr val="dk1"/>
                </a:solidFill>
                <a:latin typeface="Corbel"/>
                <a:ea typeface="Corbel"/>
                <a:cs typeface="Corbel"/>
                <a:sym typeface="Corbel"/>
              </a:rPr>
              <a:t>Evaluating the trained model</a:t>
            </a:r>
            <a:endParaRPr/>
          </a:p>
        </p:txBody>
      </p:sp>
      <p:pic>
        <p:nvPicPr>
          <p:cNvPr id="256" name="Google Shape;256;p15"/>
          <p:cNvPicPr preferRelativeResize="0"/>
          <p:nvPr/>
        </p:nvPicPr>
        <p:blipFill rotWithShape="1">
          <a:blip r:embed="rId4">
            <a:alphaModFix/>
          </a:blip>
          <a:srcRect b="0" l="0" r="0" t="0"/>
          <a:stretch/>
        </p:blipFill>
        <p:spPr>
          <a:xfrm>
            <a:off x="2465126" y="3429000"/>
            <a:ext cx="7616311" cy="288458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6"/>
          <p:cNvSpPr txBox="1"/>
          <p:nvPr>
            <p:ph idx="1" type="body"/>
          </p:nvPr>
        </p:nvSpPr>
        <p:spPr>
          <a:xfrm>
            <a:off x="647700" y="2057818"/>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R2Score</a:t>
            </a:r>
            <a:endParaRPr/>
          </a:p>
        </p:txBody>
      </p:sp>
      <p:sp>
        <p:nvSpPr>
          <p:cNvPr id="262" name="Google Shape;262;p16"/>
          <p:cNvSpPr txBox="1"/>
          <p:nvPr>
            <p:ph idx="2" type="body"/>
          </p:nvPr>
        </p:nvSpPr>
        <p:spPr>
          <a:xfrm>
            <a:off x="660400" y="2673522"/>
            <a:ext cx="5067300" cy="29352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SzPts val="2000"/>
              <a:buChar char="▪"/>
            </a:pPr>
            <a:r>
              <a:rPr lang="en-US"/>
              <a:t>R2 (coefficient of determination) regression score function. The best possible score is 1.0 and it can be negative (because the model can be arbitrarily worse). A constant model that always predicts the expected value of y, disregarding the input features, would get an R2 score of 0.0.</a:t>
            </a:r>
            <a:endParaRPr/>
          </a:p>
          <a:p>
            <a:pPr indent="-266700" lvl="0" marL="266700" rtl="0" algn="l">
              <a:lnSpc>
                <a:spcPct val="90000"/>
              </a:lnSpc>
              <a:spcBef>
                <a:spcPts val="800"/>
              </a:spcBef>
              <a:spcAft>
                <a:spcPts val="0"/>
              </a:spcAft>
              <a:buSzPts val="2000"/>
              <a:buChar char="▪"/>
            </a:pPr>
            <a:r>
              <a:rPr lang="en-US"/>
              <a:t>In our observation, we get an R2 score of 0.884.</a:t>
            </a:r>
            <a:endParaRPr/>
          </a:p>
          <a:p>
            <a:pPr indent="-139700" lvl="0" marL="266700" rtl="0" algn="l">
              <a:lnSpc>
                <a:spcPct val="90000"/>
              </a:lnSpc>
              <a:spcBef>
                <a:spcPts val="1800"/>
              </a:spcBef>
              <a:spcAft>
                <a:spcPts val="0"/>
              </a:spcAft>
              <a:buClr>
                <a:schemeClr val="accent4"/>
              </a:buClr>
              <a:buSzPts val="2000"/>
              <a:buFont typeface="Noto Sans Symbols"/>
              <a:buNone/>
            </a:pPr>
            <a:r>
              <a:t/>
            </a:r>
            <a:endParaRPr/>
          </a:p>
        </p:txBody>
      </p:sp>
      <p:sp>
        <p:nvSpPr>
          <p:cNvPr id="263" name="Google Shape;263;p16"/>
          <p:cNvSpPr txBox="1"/>
          <p:nvPr>
            <p:ph idx="3" type="body"/>
          </p:nvPr>
        </p:nvSpPr>
        <p:spPr>
          <a:xfrm>
            <a:off x="6451600" y="2061363"/>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Mean absolute error</a:t>
            </a:r>
            <a:endParaRPr/>
          </a:p>
        </p:txBody>
      </p:sp>
      <p:sp>
        <p:nvSpPr>
          <p:cNvPr id="264" name="Google Shape;264;p16"/>
          <p:cNvSpPr txBox="1"/>
          <p:nvPr>
            <p:ph idx="4" type="body"/>
          </p:nvPr>
        </p:nvSpPr>
        <p:spPr>
          <a:xfrm>
            <a:off x="6464300" y="2677067"/>
            <a:ext cx="5067300" cy="29352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SzPts val="2000"/>
              <a:buChar char="▪"/>
            </a:pPr>
            <a:r>
              <a:rPr lang="en-US"/>
              <a:t>Mean absolute error is a measure of errors between paired observations expressing the same phenomenon. Examples of Y versus X include comparisons of predicted versus observed, subsequent time versus initial time, and one technique of measurement versus an alternative technique of measurement.</a:t>
            </a:r>
            <a:endParaRPr/>
          </a:p>
          <a:p>
            <a:pPr indent="-266700" lvl="0" marL="266700" rtl="0" algn="l">
              <a:lnSpc>
                <a:spcPct val="90000"/>
              </a:lnSpc>
              <a:spcBef>
                <a:spcPts val="2400"/>
              </a:spcBef>
              <a:spcAft>
                <a:spcPts val="0"/>
              </a:spcAft>
              <a:buSzPts val="2000"/>
              <a:buChar char="▪"/>
            </a:pPr>
            <a:r>
              <a:rPr lang="en-US"/>
              <a:t> In our observation, we get a mean absolute error of 138.14</a:t>
            </a:r>
            <a:endParaRPr/>
          </a:p>
          <a:p>
            <a:pPr indent="-139700" lvl="0" marL="266700" rtl="0" algn="l">
              <a:lnSpc>
                <a:spcPct val="90000"/>
              </a:lnSpc>
              <a:spcBef>
                <a:spcPts val="2200"/>
              </a:spcBef>
              <a:spcAft>
                <a:spcPts val="0"/>
              </a:spcAft>
              <a:buClr>
                <a:schemeClr val="accent4"/>
              </a:buClr>
              <a:buSzPts val="2000"/>
              <a:buFont typeface="Noto Sans Symbols"/>
              <a:buNone/>
            </a:pPr>
            <a:r>
              <a:t/>
            </a:r>
            <a:endParaRPr/>
          </a:p>
        </p:txBody>
      </p:sp>
      <p:sp>
        <p:nvSpPr>
          <p:cNvPr id="265" name="Google Shape;265;p16"/>
          <p:cNvSpPr txBox="1"/>
          <p:nvPr>
            <p:ph type="title"/>
          </p:nvPr>
        </p:nvSpPr>
        <p:spPr>
          <a:xfrm>
            <a:off x="660400" y="693247"/>
            <a:ext cx="4732694" cy="6130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orbel"/>
              <a:buNone/>
            </a:pPr>
            <a:r>
              <a:rPr lang="en-US" sz="3600"/>
              <a:t>Metrics for evaluation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17"/>
          <p:cNvSpPr txBox="1"/>
          <p:nvPr>
            <p:ph idx="1" type="body"/>
          </p:nvPr>
        </p:nvSpPr>
        <p:spPr>
          <a:xfrm>
            <a:off x="647700" y="1983176"/>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Mean squared error</a:t>
            </a:r>
            <a:endParaRPr/>
          </a:p>
        </p:txBody>
      </p:sp>
      <p:sp>
        <p:nvSpPr>
          <p:cNvPr id="271" name="Google Shape;271;p17"/>
          <p:cNvSpPr txBox="1"/>
          <p:nvPr>
            <p:ph idx="2" type="body"/>
          </p:nvPr>
        </p:nvSpPr>
        <p:spPr>
          <a:xfrm>
            <a:off x="660400" y="2598880"/>
            <a:ext cx="5067300" cy="2935288"/>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SzPts val="2000"/>
              <a:buChar char="▪"/>
            </a:pPr>
            <a:r>
              <a:rPr lang="en-US"/>
              <a:t>Mean squared error or mean squared deviation of an estimator measures the average of the squares of the errors—that is, the average squared difference between the estimated values and the actual value. MSE is a risk function, corresponding to the expected value of the squared error loss.</a:t>
            </a:r>
            <a:endParaRPr/>
          </a:p>
          <a:p>
            <a:pPr indent="-266700" lvl="0" marL="266700" rtl="0" algn="l">
              <a:lnSpc>
                <a:spcPct val="90000"/>
              </a:lnSpc>
              <a:spcBef>
                <a:spcPts val="2400"/>
              </a:spcBef>
              <a:spcAft>
                <a:spcPts val="0"/>
              </a:spcAft>
              <a:buSzPts val="2000"/>
              <a:buChar char="▪"/>
            </a:pPr>
            <a:r>
              <a:rPr lang="en-US"/>
              <a:t> In our observation, we get a mean absolute error of 49803.61</a:t>
            </a:r>
            <a:endParaRPr/>
          </a:p>
          <a:p>
            <a:pPr indent="-139700" lvl="0" marL="266700" rtl="0" algn="l">
              <a:lnSpc>
                <a:spcPct val="90000"/>
              </a:lnSpc>
              <a:spcBef>
                <a:spcPts val="1200"/>
              </a:spcBef>
              <a:spcAft>
                <a:spcPts val="0"/>
              </a:spcAft>
              <a:buSzPts val="2000"/>
              <a:buNone/>
            </a:pPr>
            <a:r>
              <a:t/>
            </a:r>
            <a:endParaRPr/>
          </a:p>
        </p:txBody>
      </p:sp>
      <p:sp>
        <p:nvSpPr>
          <p:cNvPr id="272" name="Google Shape;272;p17"/>
          <p:cNvSpPr txBox="1"/>
          <p:nvPr>
            <p:ph idx="3" type="body"/>
          </p:nvPr>
        </p:nvSpPr>
        <p:spPr>
          <a:xfrm>
            <a:off x="6451600" y="1986721"/>
            <a:ext cx="5080000" cy="438150"/>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Clr>
                <a:schemeClr val="dk1"/>
              </a:buClr>
              <a:buSzPts val="2400"/>
              <a:buNone/>
            </a:pPr>
            <a:r>
              <a:rPr lang="en-US"/>
              <a:t>Root Mean Square Error (RMSE)</a:t>
            </a:r>
            <a:endParaRPr/>
          </a:p>
        </p:txBody>
      </p:sp>
      <p:sp>
        <p:nvSpPr>
          <p:cNvPr id="273" name="Google Shape;273;p17"/>
          <p:cNvSpPr txBox="1"/>
          <p:nvPr>
            <p:ph idx="4" type="body"/>
          </p:nvPr>
        </p:nvSpPr>
        <p:spPr>
          <a:xfrm>
            <a:off x="6464300" y="2602425"/>
            <a:ext cx="5067300" cy="3275864"/>
          </a:xfrm>
          <a:prstGeom prst="rect">
            <a:avLst/>
          </a:prstGeom>
          <a:noFill/>
          <a:ln>
            <a:noFill/>
          </a:ln>
        </p:spPr>
        <p:txBody>
          <a:bodyPr anchorCtr="0" anchor="t" bIns="45700" lIns="91425" spcFirstLastPara="1" rIns="91425" wrap="square" tIns="45700">
            <a:noAutofit/>
          </a:bodyPr>
          <a:lstStyle/>
          <a:p>
            <a:pPr indent="-266700" lvl="0" marL="266700" rtl="0" algn="l">
              <a:lnSpc>
                <a:spcPct val="90000"/>
              </a:lnSpc>
              <a:spcBef>
                <a:spcPts val="0"/>
              </a:spcBef>
              <a:spcAft>
                <a:spcPts val="0"/>
              </a:spcAft>
              <a:buSzPts val="2000"/>
              <a:buChar char="▪"/>
            </a:pPr>
            <a:r>
              <a:rPr lang="en-US"/>
              <a:t>Root Mean Square Error (RMSE) is the standard deviation of the residuals (prediction errors). Residuals are a measure of how far from the regression line data points are; RMSE is a measure of how to spread out these residuals are. In other words, it tells you how concentrated the data is around the line of best fit.</a:t>
            </a:r>
            <a:endParaRPr/>
          </a:p>
          <a:p>
            <a:pPr indent="-266700" lvl="0" marL="266700" rtl="0" algn="l">
              <a:lnSpc>
                <a:spcPct val="90000"/>
              </a:lnSpc>
              <a:spcBef>
                <a:spcPts val="2000"/>
              </a:spcBef>
              <a:spcAft>
                <a:spcPts val="0"/>
              </a:spcAft>
              <a:buSzPts val="2000"/>
              <a:buChar char="▪"/>
            </a:pPr>
            <a:r>
              <a:rPr lang="en-US"/>
              <a:t>In our observation, we get a mean absolute error of 223.16</a:t>
            </a:r>
            <a:endParaRPr/>
          </a:p>
        </p:txBody>
      </p:sp>
      <p:sp>
        <p:nvSpPr>
          <p:cNvPr id="274" name="Google Shape;274;p17"/>
          <p:cNvSpPr txBox="1"/>
          <p:nvPr>
            <p:ph type="title"/>
          </p:nvPr>
        </p:nvSpPr>
        <p:spPr>
          <a:xfrm>
            <a:off x="660400" y="693247"/>
            <a:ext cx="4732694" cy="6130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orbel"/>
              <a:buNone/>
            </a:pPr>
            <a:r>
              <a:rPr lang="en-US" sz="3600"/>
              <a:t>Metrics for evaluation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79" name="Shape 279"/>
        <p:cNvGrpSpPr/>
        <p:nvPr/>
      </p:nvGrpSpPr>
      <p:grpSpPr>
        <a:xfrm>
          <a:off x="0" y="0"/>
          <a:ext cx="0" cy="0"/>
          <a:chOff x="0" y="0"/>
          <a:chExt cx="0" cy="0"/>
        </a:xfrm>
      </p:grpSpPr>
      <p:sp>
        <p:nvSpPr>
          <p:cNvPr id="280" name="Google Shape;280;p18"/>
          <p:cNvSpPr txBox="1"/>
          <p:nvPr>
            <p:ph type="title"/>
          </p:nvPr>
        </p:nvSpPr>
        <p:spPr>
          <a:xfrm>
            <a:off x="660400" y="805213"/>
            <a:ext cx="10693400"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orbel"/>
              <a:buNone/>
            </a:pPr>
            <a:r>
              <a:rPr lang="en-US"/>
              <a:t>Reference</a:t>
            </a:r>
            <a:endParaRPr/>
          </a:p>
        </p:txBody>
      </p:sp>
      <p:sp>
        <p:nvSpPr>
          <p:cNvPr id="281" name="Google Shape;281;p18"/>
          <p:cNvSpPr/>
          <p:nvPr/>
        </p:nvSpPr>
        <p:spPr>
          <a:xfrm>
            <a:off x="609018" y="2105016"/>
            <a:ext cx="914400" cy="764219"/>
          </a:xfrm>
          <a:prstGeom prst="hexagon">
            <a:avLst>
              <a:gd fmla="val 25000" name="adj"/>
              <a:gd fmla="val 115470" name="vf"/>
            </a:avLst>
          </a:prstGeom>
          <a:noFill/>
          <a:ln cap="flat" cmpd="sng" w="127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Target Audience" id="282" name="Google Shape;282;p18"/>
          <p:cNvPicPr preferRelativeResize="0"/>
          <p:nvPr/>
        </p:nvPicPr>
        <p:blipFill rotWithShape="1">
          <a:blip r:embed="rId3">
            <a:alphaModFix/>
          </a:blip>
          <a:srcRect b="0" l="0" r="0" t="0"/>
          <a:stretch/>
        </p:blipFill>
        <p:spPr>
          <a:xfrm>
            <a:off x="793513" y="2204476"/>
            <a:ext cx="548640" cy="548640"/>
          </a:xfrm>
          <a:prstGeom prst="rect">
            <a:avLst/>
          </a:prstGeom>
          <a:noFill/>
          <a:ln>
            <a:noFill/>
          </a:ln>
        </p:spPr>
      </p:pic>
      <p:sp>
        <p:nvSpPr>
          <p:cNvPr id="283" name="Google Shape;283;p18"/>
          <p:cNvSpPr txBox="1"/>
          <p:nvPr/>
        </p:nvSpPr>
        <p:spPr>
          <a:xfrm>
            <a:off x="1748530" y="2125176"/>
            <a:ext cx="8673763" cy="13911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US" sz="1800">
                <a:solidFill>
                  <a:schemeClr val="accent4"/>
                </a:solidFill>
                <a:latin typeface="Corbel"/>
                <a:ea typeface="Corbel"/>
                <a:cs typeface="Corbel"/>
                <a:sym typeface="Corbel"/>
              </a:rPr>
              <a:t>Introduction to Random Forest in Machine Learning</a:t>
            </a:r>
            <a:endParaRPr b="1" sz="1800" u="sng">
              <a:solidFill>
                <a:schemeClr val="accent4"/>
              </a:solidFill>
              <a:latin typeface="Corbel"/>
              <a:ea typeface="Corbel"/>
              <a:cs typeface="Corbel"/>
              <a:sym typeface="Corbel"/>
              <a:hlinkClick r:id="rId4">
                <a:extLst>
                  <a:ext uri="{A12FA001-AC4F-418D-AE19-62706E023703}">
                    <ahyp:hlinkClr val="tx"/>
                  </a:ext>
                </a:extLst>
              </a:hlinkClick>
            </a:endParaRPr>
          </a:p>
          <a:p>
            <a:pPr indent="0" lvl="0" marL="0" marR="0" rtl="0" algn="l">
              <a:lnSpc>
                <a:spcPct val="90000"/>
              </a:lnSpc>
              <a:spcBef>
                <a:spcPts val="1000"/>
              </a:spcBef>
              <a:spcAft>
                <a:spcPts val="0"/>
              </a:spcAft>
              <a:buClr>
                <a:schemeClr val="dk1"/>
              </a:buClr>
              <a:buSzPts val="1600"/>
              <a:buFont typeface="Arial"/>
              <a:buNone/>
            </a:pPr>
            <a:r>
              <a:rPr b="0" i="0" lang="en-U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Section.in</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
        <p:nvSpPr>
          <p:cNvPr id="284" name="Google Shape;284;p18"/>
          <p:cNvSpPr/>
          <p:nvPr/>
        </p:nvSpPr>
        <p:spPr>
          <a:xfrm>
            <a:off x="609018" y="3273031"/>
            <a:ext cx="914400" cy="764219"/>
          </a:xfrm>
          <a:prstGeom prst="hexagon">
            <a:avLst>
              <a:gd fmla="val 25000" name="adj"/>
              <a:gd fmla="val 115470" name="vf"/>
            </a:avLst>
          </a:prstGeom>
          <a:noFill/>
          <a:ln cap="flat" cmpd="sng" w="1270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Target Audience" id="285" name="Google Shape;285;p18"/>
          <p:cNvPicPr preferRelativeResize="0"/>
          <p:nvPr/>
        </p:nvPicPr>
        <p:blipFill rotWithShape="1">
          <a:blip r:embed="rId6">
            <a:alphaModFix/>
          </a:blip>
          <a:srcRect b="0" l="0" r="0" t="0"/>
          <a:stretch/>
        </p:blipFill>
        <p:spPr>
          <a:xfrm>
            <a:off x="793513" y="3372491"/>
            <a:ext cx="548640" cy="548640"/>
          </a:xfrm>
          <a:prstGeom prst="rect">
            <a:avLst/>
          </a:prstGeom>
          <a:noFill/>
          <a:ln>
            <a:noFill/>
          </a:ln>
        </p:spPr>
      </p:pic>
      <p:sp>
        <p:nvSpPr>
          <p:cNvPr id="286" name="Google Shape;286;p18"/>
          <p:cNvSpPr txBox="1"/>
          <p:nvPr/>
        </p:nvSpPr>
        <p:spPr>
          <a:xfrm>
            <a:off x="1748530" y="3293191"/>
            <a:ext cx="8673763" cy="13911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US" sz="1800">
                <a:solidFill>
                  <a:schemeClr val="accent4"/>
                </a:solidFill>
                <a:latin typeface="Corbel"/>
                <a:ea typeface="Corbel"/>
                <a:cs typeface="Corbel"/>
                <a:sym typeface="Corbel"/>
              </a:rPr>
              <a:t>A Complete Guide to the Random Forest Algorithm</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None/>
            </a:pPr>
            <a:r>
              <a:rPr lang="en-US" sz="1600" u="sng">
                <a:solidFill>
                  <a:schemeClr val="dk1"/>
                </a:solidFill>
                <a:latin typeface="Calibri"/>
                <a:ea typeface="Calibri"/>
                <a:cs typeface="Calibri"/>
                <a:sym typeface="Calibri"/>
                <a:hlinkClick r:id="rId7">
                  <a:extLst>
                    <a:ext uri="{A12FA001-AC4F-418D-AE19-62706E023703}">
                      <ahyp:hlinkClr val="tx"/>
                    </a:ext>
                  </a:extLst>
                </a:hlinkClick>
              </a:rPr>
              <a:t>Built In</a:t>
            </a:r>
            <a:endParaRPr sz="1600" u="sng">
              <a:solidFill>
                <a:schemeClr val="dk1"/>
              </a:solidFill>
              <a:latin typeface="Calibri"/>
              <a:ea typeface="Calibri"/>
              <a:cs typeface="Calibri"/>
              <a:sym typeface="Calibri"/>
              <a:hlinkClick r:id="rId8">
                <a:extLst>
                  <a:ext uri="{A12FA001-AC4F-418D-AE19-62706E023703}">
                    <ahyp:hlinkClr val="tx"/>
                  </a:ext>
                </a:extLst>
              </a:hlinkClick>
            </a:endParaRPr>
          </a:p>
          <a:p>
            <a:pPr indent="0" lvl="0" marL="0" marR="0" rtl="0" algn="l">
              <a:lnSpc>
                <a:spcPct val="90000"/>
              </a:lnSpc>
              <a:spcBef>
                <a:spcPts val="100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600"/>
              <a:buFont typeface="Arial"/>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90" name="Shape 290"/>
        <p:cNvGrpSpPr/>
        <p:nvPr/>
      </p:nvGrpSpPr>
      <p:grpSpPr>
        <a:xfrm>
          <a:off x="0" y="0"/>
          <a:ext cx="0" cy="0"/>
          <a:chOff x="0" y="0"/>
          <a:chExt cx="0" cy="0"/>
        </a:xfrm>
      </p:grpSpPr>
      <p:sp>
        <p:nvSpPr>
          <p:cNvPr id="291" name="Google Shape;291;p19"/>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Corbel"/>
              <a:buNone/>
            </a:pPr>
            <a:r>
              <a:rPr lang="en-US"/>
              <a:t>Conclusion</a:t>
            </a:r>
            <a:endParaRPr/>
          </a:p>
          <a:p>
            <a:pPr indent="0" lvl="0" marL="0" rtl="0" algn="l">
              <a:lnSpc>
                <a:spcPct val="90000"/>
              </a:lnSpc>
              <a:spcBef>
                <a:spcPts val="0"/>
              </a:spcBef>
              <a:spcAft>
                <a:spcPts val="0"/>
              </a:spcAft>
              <a:buClr>
                <a:schemeClr val="dk1"/>
              </a:buClr>
              <a:buSzPts val="4800"/>
              <a:buFont typeface="Corbel"/>
              <a:buNone/>
            </a:pPr>
            <a:r>
              <a:t/>
            </a:r>
            <a:endParaRPr/>
          </a:p>
        </p:txBody>
      </p:sp>
      <p:pic>
        <p:nvPicPr>
          <p:cNvPr id="292" name="Google Shape;292;p19"/>
          <p:cNvPicPr preferRelativeResize="0"/>
          <p:nvPr>
            <p:ph idx="3" type="pic"/>
          </p:nvPr>
        </p:nvPicPr>
        <p:blipFill rotWithShape="1">
          <a:blip r:embed="rId3">
            <a:alphaModFix/>
          </a:blip>
          <a:srcRect b="1598" l="41608" r="14282" t="-1597"/>
          <a:stretch/>
        </p:blipFill>
        <p:spPr>
          <a:xfrm>
            <a:off x="5888038" y="533400"/>
            <a:ext cx="5541962" cy="5611813"/>
          </a:xfrm>
          <a:prstGeom prst="rect">
            <a:avLst/>
          </a:prstGeom>
          <a:noFill/>
          <a:ln>
            <a:noFill/>
          </a:ln>
        </p:spPr>
      </p:pic>
      <p:sp>
        <p:nvSpPr>
          <p:cNvPr id="293" name="Google Shape;293;p19"/>
          <p:cNvSpPr txBox="1"/>
          <p:nvPr/>
        </p:nvSpPr>
        <p:spPr>
          <a:xfrm>
            <a:off x="762000" y="1720840"/>
            <a:ext cx="4677747" cy="406265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Random forests are also very hard to beat performance wise. Of course, you can probably always find a model that can perform better, like a neural network for example, but these usually take more time to develop, though they can handle a lot of different feature types, like binary, categorical and numerical.</a:t>
            </a:r>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Overall, random forest is a (mostly) fast, simple and flexible tool, but not without some limitations. </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p:nvPr/>
        </p:nvSpPr>
        <p:spPr>
          <a:xfrm>
            <a:off x="8128054" y="4749482"/>
            <a:ext cx="315778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cap="none">
                <a:solidFill>
                  <a:srgbClr val="9CB9E4"/>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Geometric Presentation">
      <a:dk1>
        <a:srgbClr val="000000"/>
      </a:dk1>
      <a:lt1>
        <a:srgbClr val="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2022-03-04T20:40:12Z</dcterms:created>
  <dc:creator>pateldhruv5584@gmail.com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